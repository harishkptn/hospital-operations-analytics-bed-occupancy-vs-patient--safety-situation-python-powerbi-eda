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57577-9416-0914-1DBF-EB0D7F5578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544BFE6-FE5E-4D1E-84A1-E2B74C1969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FAA833C-0F0B-8581-A7C3-44D681B283C0}"/>
              </a:ext>
            </a:extLst>
          </p:cNvPr>
          <p:cNvSpPr>
            <a:spLocks noGrp="1"/>
          </p:cNvSpPr>
          <p:nvPr>
            <p:ph type="dt" sz="half" idx="10"/>
          </p:nvPr>
        </p:nvSpPr>
        <p:spPr/>
        <p:txBody>
          <a:bodyPr/>
          <a:lstStyle/>
          <a:p>
            <a:fld id="{A75263ED-AD07-4259-A891-12D2BF842353}" type="datetimeFigureOut">
              <a:rPr lang="en-IN" smtClean="0"/>
              <a:t>10-03-2026</a:t>
            </a:fld>
            <a:endParaRPr lang="en-IN"/>
          </a:p>
        </p:txBody>
      </p:sp>
      <p:sp>
        <p:nvSpPr>
          <p:cNvPr id="5" name="Footer Placeholder 4">
            <a:extLst>
              <a:ext uri="{FF2B5EF4-FFF2-40B4-BE49-F238E27FC236}">
                <a16:creationId xmlns:a16="http://schemas.microsoft.com/office/drawing/2014/main" id="{7DFD0255-DD87-1B74-C9BA-74E88EBA61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518D77-6E15-FB67-EB6D-248BD4B4DCE7}"/>
              </a:ext>
            </a:extLst>
          </p:cNvPr>
          <p:cNvSpPr>
            <a:spLocks noGrp="1"/>
          </p:cNvSpPr>
          <p:nvPr>
            <p:ph type="sldNum" sz="quarter" idx="12"/>
          </p:nvPr>
        </p:nvSpPr>
        <p:spPr/>
        <p:txBody>
          <a:bodyPr/>
          <a:lstStyle/>
          <a:p>
            <a:fld id="{2AF7C8E0-1568-4302-9344-86EC3E8011D3}" type="slidenum">
              <a:rPr lang="en-IN" smtClean="0"/>
              <a:t>‹#›</a:t>
            </a:fld>
            <a:endParaRPr lang="en-IN"/>
          </a:p>
        </p:txBody>
      </p:sp>
    </p:spTree>
    <p:extLst>
      <p:ext uri="{BB962C8B-B14F-4D97-AF65-F5344CB8AC3E}">
        <p14:creationId xmlns:p14="http://schemas.microsoft.com/office/powerpoint/2010/main" val="815818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037DA-FACE-4634-7328-107D91A08B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B75ADE-225C-BE97-8630-9BAF963DE0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4E72F6-02C3-42CB-D50B-B1BE1ABF0AF4}"/>
              </a:ext>
            </a:extLst>
          </p:cNvPr>
          <p:cNvSpPr>
            <a:spLocks noGrp="1"/>
          </p:cNvSpPr>
          <p:nvPr>
            <p:ph type="dt" sz="half" idx="10"/>
          </p:nvPr>
        </p:nvSpPr>
        <p:spPr/>
        <p:txBody>
          <a:bodyPr/>
          <a:lstStyle/>
          <a:p>
            <a:fld id="{A75263ED-AD07-4259-A891-12D2BF842353}" type="datetimeFigureOut">
              <a:rPr lang="en-IN" smtClean="0"/>
              <a:t>10-03-2026</a:t>
            </a:fld>
            <a:endParaRPr lang="en-IN"/>
          </a:p>
        </p:txBody>
      </p:sp>
      <p:sp>
        <p:nvSpPr>
          <p:cNvPr id="5" name="Footer Placeholder 4">
            <a:extLst>
              <a:ext uri="{FF2B5EF4-FFF2-40B4-BE49-F238E27FC236}">
                <a16:creationId xmlns:a16="http://schemas.microsoft.com/office/drawing/2014/main" id="{3DE48686-04BF-7D19-8607-5CDECB9AC4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44888B-C120-3292-F353-7813B94E49FC}"/>
              </a:ext>
            </a:extLst>
          </p:cNvPr>
          <p:cNvSpPr>
            <a:spLocks noGrp="1"/>
          </p:cNvSpPr>
          <p:nvPr>
            <p:ph type="sldNum" sz="quarter" idx="12"/>
          </p:nvPr>
        </p:nvSpPr>
        <p:spPr/>
        <p:txBody>
          <a:bodyPr/>
          <a:lstStyle/>
          <a:p>
            <a:fld id="{2AF7C8E0-1568-4302-9344-86EC3E8011D3}" type="slidenum">
              <a:rPr lang="en-IN" smtClean="0"/>
              <a:t>‹#›</a:t>
            </a:fld>
            <a:endParaRPr lang="en-IN"/>
          </a:p>
        </p:txBody>
      </p:sp>
    </p:spTree>
    <p:extLst>
      <p:ext uri="{BB962C8B-B14F-4D97-AF65-F5344CB8AC3E}">
        <p14:creationId xmlns:p14="http://schemas.microsoft.com/office/powerpoint/2010/main" val="1342611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23BD0-F627-E9A1-BA38-2315D440DF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BAE0E8-405A-3EDD-D736-93FE2CC977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FC0562-8F60-FB36-86BF-F3E34B733FBE}"/>
              </a:ext>
            </a:extLst>
          </p:cNvPr>
          <p:cNvSpPr>
            <a:spLocks noGrp="1"/>
          </p:cNvSpPr>
          <p:nvPr>
            <p:ph type="dt" sz="half" idx="10"/>
          </p:nvPr>
        </p:nvSpPr>
        <p:spPr/>
        <p:txBody>
          <a:bodyPr/>
          <a:lstStyle/>
          <a:p>
            <a:fld id="{A75263ED-AD07-4259-A891-12D2BF842353}" type="datetimeFigureOut">
              <a:rPr lang="en-IN" smtClean="0"/>
              <a:t>10-03-2026</a:t>
            </a:fld>
            <a:endParaRPr lang="en-IN"/>
          </a:p>
        </p:txBody>
      </p:sp>
      <p:sp>
        <p:nvSpPr>
          <p:cNvPr id="5" name="Footer Placeholder 4">
            <a:extLst>
              <a:ext uri="{FF2B5EF4-FFF2-40B4-BE49-F238E27FC236}">
                <a16:creationId xmlns:a16="http://schemas.microsoft.com/office/drawing/2014/main" id="{A641EECC-5F46-33E1-8D7B-BA5B74408C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E29279-0841-1132-B1A9-FA3725BE5D75}"/>
              </a:ext>
            </a:extLst>
          </p:cNvPr>
          <p:cNvSpPr>
            <a:spLocks noGrp="1"/>
          </p:cNvSpPr>
          <p:nvPr>
            <p:ph type="sldNum" sz="quarter" idx="12"/>
          </p:nvPr>
        </p:nvSpPr>
        <p:spPr/>
        <p:txBody>
          <a:bodyPr/>
          <a:lstStyle/>
          <a:p>
            <a:fld id="{2AF7C8E0-1568-4302-9344-86EC3E8011D3}" type="slidenum">
              <a:rPr lang="en-IN" smtClean="0"/>
              <a:t>‹#›</a:t>
            </a:fld>
            <a:endParaRPr lang="en-IN"/>
          </a:p>
        </p:txBody>
      </p:sp>
    </p:spTree>
    <p:extLst>
      <p:ext uri="{BB962C8B-B14F-4D97-AF65-F5344CB8AC3E}">
        <p14:creationId xmlns:p14="http://schemas.microsoft.com/office/powerpoint/2010/main" val="3602875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65587-74A1-1C10-C93D-56BCFA871E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391C94-5154-2C26-90CB-335523EC69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7A3EDED-F49C-7ECC-159B-5CC3F7287A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A4959F3-22BE-2DCF-BBB5-3A642FE2A01C}"/>
              </a:ext>
            </a:extLst>
          </p:cNvPr>
          <p:cNvSpPr>
            <a:spLocks noGrp="1"/>
          </p:cNvSpPr>
          <p:nvPr>
            <p:ph type="dt" sz="half" idx="10"/>
          </p:nvPr>
        </p:nvSpPr>
        <p:spPr/>
        <p:txBody>
          <a:bodyPr/>
          <a:lstStyle/>
          <a:p>
            <a:fld id="{A75263ED-AD07-4259-A891-12D2BF842353}" type="datetimeFigureOut">
              <a:rPr lang="en-IN" smtClean="0"/>
              <a:t>10-03-2026</a:t>
            </a:fld>
            <a:endParaRPr lang="en-IN"/>
          </a:p>
        </p:txBody>
      </p:sp>
      <p:sp>
        <p:nvSpPr>
          <p:cNvPr id="6" name="Footer Placeholder 5">
            <a:extLst>
              <a:ext uri="{FF2B5EF4-FFF2-40B4-BE49-F238E27FC236}">
                <a16:creationId xmlns:a16="http://schemas.microsoft.com/office/drawing/2014/main" id="{D6ECAFF3-8199-9C7B-9158-34D46E16EC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A3C3AC-1D8D-606C-089A-4CB3837FF67D}"/>
              </a:ext>
            </a:extLst>
          </p:cNvPr>
          <p:cNvSpPr>
            <a:spLocks noGrp="1"/>
          </p:cNvSpPr>
          <p:nvPr>
            <p:ph type="sldNum" sz="quarter" idx="12"/>
          </p:nvPr>
        </p:nvSpPr>
        <p:spPr/>
        <p:txBody>
          <a:bodyPr/>
          <a:lstStyle/>
          <a:p>
            <a:fld id="{2AF7C8E0-1568-4302-9344-86EC3E8011D3}" type="slidenum">
              <a:rPr lang="en-IN" smtClean="0"/>
              <a:t>‹#›</a:t>
            </a:fld>
            <a:endParaRPr lang="en-IN"/>
          </a:p>
        </p:txBody>
      </p:sp>
    </p:spTree>
    <p:extLst>
      <p:ext uri="{BB962C8B-B14F-4D97-AF65-F5344CB8AC3E}">
        <p14:creationId xmlns:p14="http://schemas.microsoft.com/office/powerpoint/2010/main" val="2481676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BC68B-ECDB-9BDB-592E-E6EF7F91BE3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A8A5DA-E079-A613-E2CC-B4412A76CA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60E601-9BA5-10A3-5DB6-A9B228B7BB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4AF97C4-1DD1-8851-4268-FB9C85BF5D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BE4D02-9544-09BD-CE01-57853CDD97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8D63762-AEA7-E814-B07E-2FB385CE618C}"/>
              </a:ext>
            </a:extLst>
          </p:cNvPr>
          <p:cNvSpPr>
            <a:spLocks noGrp="1"/>
          </p:cNvSpPr>
          <p:nvPr>
            <p:ph type="dt" sz="half" idx="10"/>
          </p:nvPr>
        </p:nvSpPr>
        <p:spPr/>
        <p:txBody>
          <a:bodyPr/>
          <a:lstStyle/>
          <a:p>
            <a:fld id="{A75263ED-AD07-4259-A891-12D2BF842353}" type="datetimeFigureOut">
              <a:rPr lang="en-IN" smtClean="0"/>
              <a:t>10-03-2026</a:t>
            </a:fld>
            <a:endParaRPr lang="en-IN"/>
          </a:p>
        </p:txBody>
      </p:sp>
      <p:sp>
        <p:nvSpPr>
          <p:cNvPr id="8" name="Footer Placeholder 7">
            <a:extLst>
              <a:ext uri="{FF2B5EF4-FFF2-40B4-BE49-F238E27FC236}">
                <a16:creationId xmlns:a16="http://schemas.microsoft.com/office/drawing/2014/main" id="{3C435C3E-2C15-ABFC-9EE4-6978D24677E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92AE7FC-24EA-881C-FD50-A50DF8238E1E}"/>
              </a:ext>
            </a:extLst>
          </p:cNvPr>
          <p:cNvSpPr>
            <a:spLocks noGrp="1"/>
          </p:cNvSpPr>
          <p:nvPr>
            <p:ph type="sldNum" sz="quarter" idx="12"/>
          </p:nvPr>
        </p:nvSpPr>
        <p:spPr/>
        <p:txBody>
          <a:bodyPr/>
          <a:lstStyle/>
          <a:p>
            <a:fld id="{2AF7C8E0-1568-4302-9344-86EC3E8011D3}" type="slidenum">
              <a:rPr lang="en-IN" smtClean="0"/>
              <a:t>‹#›</a:t>
            </a:fld>
            <a:endParaRPr lang="en-IN"/>
          </a:p>
        </p:txBody>
      </p:sp>
    </p:spTree>
    <p:extLst>
      <p:ext uri="{BB962C8B-B14F-4D97-AF65-F5344CB8AC3E}">
        <p14:creationId xmlns:p14="http://schemas.microsoft.com/office/powerpoint/2010/main" val="2564440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9ABDF-5CED-0FA0-9EA6-AD107537A9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D2D3053-97B0-7973-CDD6-1DAE39193952}"/>
              </a:ext>
            </a:extLst>
          </p:cNvPr>
          <p:cNvSpPr>
            <a:spLocks noGrp="1"/>
          </p:cNvSpPr>
          <p:nvPr>
            <p:ph type="dt" sz="half" idx="10"/>
          </p:nvPr>
        </p:nvSpPr>
        <p:spPr/>
        <p:txBody>
          <a:bodyPr/>
          <a:lstStyle/>
          <a:p>
            <a:fld id="{A75263ED-AD07-4259-A891-12D2BF842353}" type="datetimeFigureOut">
              <a:rPr lang="en-IN" smtClean="0"/>
              <a:t>10-03-2026</a:t>
            </a:fld>
            <a:endParaRPr lang="en-IN"/>
          </a:p>
        </p:txBody>
      </p:sp>
      <p:sp>
        <p:nvSpPr>
          <p:cNvPr id="4" name="Footer Placeholder 3">
            <a:extLst>
              <a:ext uri="{FF2B5EF4-FFF2-40B4-BE49-F238E27FC236}">
                <a16:creationId xmlns:a16="http://schemas.microsoft.com/office/drawing/2014/main" id="{55347A14-F559-524E-EC65-B8A3E888033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2FC3B6B-B91C-69C2-F6C7-E636E2BC9B50}"/>
              </a:ext>
            </a:extLst>
          </p:cNvPr>
          <p:cNvSpPr>
            <a:spLocks noGrp="1"/>
          </p:cNvSpPr>
          <p:nvPr>
            <p:ph type="sldNum" sz="quarter" idx="12"/>
          </p:nvPr>
        </p:nvSpPr>
        <p:spPr/>
        <p:txBody>
          <a:bodyPr/>
          <a:lstStyle/>
          <a:p>
            <a:fld id="{2AF7C8E0-1568-4302-9344-86EC3E8011D3}" type="slidenum">
              <a:rPr lang="en-IN" smtClean="0"/>
              <a:t>‹#›</a:t>
            </a:fld>
            <a:endParaRPr lang="en-IN"/>
          </a:p>
        </p:txBody>
      </p:sp>
    </p:spTree>
    <p:extLst>
      <p:ext uri="{BB962C8B-B14F-4D97-AF65-F5344CB8AC3E}">
        <p14:creationId xmlns:p14="http://schemas.microsoft.com/office/powerpoint/2010/main" val="2143586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80958F-B51C-1096-4D48-39C738AB9B5F}"/>
              </a:ext>
            </a:extLst>
          </p:cNvPr>
          <p:cNvSpPr>
            <a:spLocks noGrp="1"/>
          </p:cNvSpPr>
          <p:nvPr>
            <p:ph type="dt" sz="half" idx="10"/>
          </p:nvPr>
        </p:nvSpPr>
        <p:spPr/>
        <p:txBody>
          <a:bodyPr/>
          <a:lstStyle/>
          <a:p>
            <a:fld id="{A75263ED-AD07-4259-A891-12D2BF842353}" type="datetimeFigureOut">
              <a:rPr lang="en-IN" smtClean="0"/>
              <a:t>10-03-2026</a:t>
            </a:fld>
            <a:endParaRPr lang="en-IN"/>
          </a:p>
        </p:txBody>
      </p:sp>
      <p:sp>
        <p:nvSpPr>
          <p:cNvPr id="3" name="Footer Placeholder 2">
            <a:extLst>
              <a:ext uri="{FF2B5EF4-FFF2-40B4-BE49-F238E27FC236}">
                <a16:creationId xmlns:a16="http://schemas.microsoft.com/office/drawing/2014/main" id="{4ACC6E49-F07B-9568-83DA-C602DC495D2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5694F0C-B66D-931E-0E45-2446E354DCDB}"/>
              </a:ext>
            </a:extLst>
          </p:cNvPr>
          <p:cNvSpPr>
            <a:spLocks noGrp="1"/>
          </p:cNvSpPr>
          <p:nvPr>
            <p:ph type="sldNum" sz="quarter" idx="12"/>
          </p:nvPr>
        </p:nvSpPr>
        <p:spPr/>
        <p:txBody>
          <a:bodyPr/>
          <a:lstStyle/>
          <a:p>
            <a:fld id="{2AF7C8E0-1568-4302-9344-86EC3E8011D3}" type="slidenum">
              <a:rPr lang="en-IN" smtClean="0"/>
              <a:t>‹#›</a:t>
            </a:fld>
            <a:endParaRPr lang="en-IN"/>
          </a:p>
        </p:txBody>
      </p:sp>
    </p:spTree>
    <p:extLst>
      <p:ext uri="{BB962C8B-B14F-4D97-AF65-F5344CB8AC3E}">
        <p14:creationId xmlns:p14="http://schemas.microsoft.com/office/powerpoint/2010/main" val="1666489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EBB57-0D98-3C67-734D-4A72F6518F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6B570AC-3A08-C5E6-A8F1-9AE178D151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402C240-83E7-2917-FC68-0E060BA777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102334-40EC-C2C4-28FB-BA3FF8F0F1FE}"/>
              </a:ext>
            </a:extLst>
          </p:cNvPr>
          <p:cNvSpPr>
            <a:spLocks noGrp="1"/>
          </p:cNvSpPr>
          <p:nvPr>
            <p:ph type="dt" sz="half" idx="10"/>
          </p:nvPr>
        </p:nvSpPr>
        <p:spPr/>
        <p:txBody>
          <a:bodyPr/>
          <a:lstStyle/>
          <a:p>
            <a:fld id="{A75263ED-AD07-4259-A891-12D2BF842353}" type="datetimeFigureOut">
              <a:rPr lang="en-IN" smtClean="0"/>
              <a:t>10-03-2026</a:t>
            </a:fld>
            <a:endParaRPr lang="en-IN"/>
          </a:p>
        </p:txBody>
      </p:sp>
      <p:sp>
        <p:nvSpPr>
          <p:cNvPr id="6" name="Footer Placeholder 5">
            <a:extLst>
              <a:ext uri="{FF2B5EF4-FFF2-40B4-BE49-F238E27FC236}">
                <a16:creationId xmlns:a16="http://schemas.microsoft.com/office/drawing/2014/main" id="{D2DC4685-8744-5015-02FA-953A56A7CC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979466-D8E3-0366-6F7B-5B59749C3D2F}"/>
              </a:ext>
            </a:extLst>
          </p:cNvPr>
          <p:cNvSpPr>
            <a:spLocks noGrp="1"/>
          </p:cNvSpPr>
          <p:nvPr>
            <p:ph type="sldNum" sz="quarter" idx="12"/>
          </p:nvPr>
        </p:nvSpPr>
        <p:spPr/>
        <p:txBody>
          <a:bodyPr/>
          <a:lstStyle/>
          <a:p>
            <a:fld id="{2AF7C8E0-1568-4302-9344-86EC3E8011D3}" type="slidenum">
              <a:rPr lang="en-IN" smtClean="0"/>
              <a:t>‹#›</a:t>
            </a:fld>
            <a:endParaRPr lang="en-IN"/>
          </a:p>
        </p:txBody>
      </p:sp>
    </p:spTree>
    <p:extLst>
      <p:ext uri="{BB962C8B-B14F-4D97-AF65-F5344CB8AC3E}">
        <p14:creationId xmlns:p14="http://schemas.microsoft.com/office/powerpoint/2010/main" val="999192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679F4-2152-19BA-C046-6C0C1DD1A1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F349AC6-2FD3-53FD-BCC8-2754B2FE83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1236AE4-18C5-536E-9584-CFBA3986D0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341FCA-E2D9-F305-BA42-76509D22D880}"/>
              </a:ext>
            </a:extLst>
          </p:cNvPr>
          <p:cNvSpPr>
            <a:spLocks noGrp="1"/>
          </p:cNvSpPr>
          <p:nvPr>
            <p:ph type="dt" sz="half" idx="10"/>
          </p:nvPr>
        </p:nvSpPr>
        <p:spPr/>
        <p:txBody>
          <a:bodyPr/>
          <a:lstStyle/>
          <a:p>
            <a:fld id="{A75263ED-AD07-4259-A891-12D2BF842353}" type="datetimeFigureOut">
              <a:rPr lang="en-IN" smtClean="0"/>
              <a:t>10-03-2026</a:t>
            </a:fld>
            <a:endParaRPr lang="en-IN"/>
          </a:p>
        </p:txBody>
      </p:sp>
      <p:sp>
        <p:nvSpPr>
          <p:cNvPr id="6" name="Footer Placeholder 5">
            <a:extLst>
              <a:ext uri="{FF2B5EF4-FFF2-40B4-BE49-F238E27FC236}">
                <a16:creationId xmlns:a16="http://schemas.microsoft.com/office/drawing/2014/main" id="{551A7287-3779-2ED8-5615-B416CF40EB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6097DB-4298-AC48-E538-28C16BA0035A}"/>
              </a:ext>
            </a:extLst>
          </p:cNvPr>
          <p:cNvSpPr>
            <a:spLocks noGrp="1"/>
          </p:cNvSpPr>
          <p:nvPr>
            <p:ph type="sldNum" sz="quarter" idx="12"/>
          </p:nvPr>
        </p:nvSpPr>
        <p:spPr/>
        <p:txBody>
          <a:bodyPr/>
          <a:lstStyle/>
          <a:p>
            <a:fld id="{2AF7C8E0-1568-4302-9344-86EC3E8011D3}" type="slidenum">
              <a:rPr lang="en-IN" smtClean="0"/>
              <a:t>‹#›</a:t>
            </a:fld>
            <a:endParaRPr lang="en-IN"/>
          </a:p>
        </p:txBody>
      </p:sp>
    </p:spTree>
    <p:extLst>
      <p:ext uri="{BB962C8B-B14F-4D97-AF65-F5344CB8AC3E}">
        <p14:creationId xmlns:p14="http://schemas.microsoft.com/office/powerpoint/2010/main" val="2920960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2ABF5-CE75-1028-527F-60704C4D73F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E81241-96F2-5231-2885-2028B1C175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900248-EA08-A9C6-E45D-E3120C1F74A4}"/>
              </a:ext>
            </a:extLst>
          </p:cNvPr>
          <p:cNvSpPr>
            <a:spLocks noGrp="1"/>
          </p:cNvSpPr>
          <p:nvPr>
            <p:ph type="dt" sz="half" idx="10"/>
          </p:nvPr>
        </p:nvSpPr>
        <p:spPr/>
        <p:txBody>
          <a:bodyPr/>
          <a:lstStyle/>
          <a:p>
            <a:fld id="{A75263ED-AD07-4259-A891-12D2BF842353}" type="datetimeFigureOut">
              <a:rPr lang="en-IN" smtClean="0"/>
              <a:t>10-03-2026</a:t>
            </a:fld>
            <a:endParaRPr lang="en-IN"/>
          </a:p>
        </p:txBody>
      </p:sp>
      <p:sp>
        <p:nvSpPr>
          <p:cNvPr id="5" name="Footer Placeholder 4">
            <a:extLst>
              <a:ext uri="{FF2B5EF4-FFF2-40B4-BE49-F238E27FC236}">
                <a16:creationId xmlns:a16="http://schemas.microsoft.com/office/drawing/2014/main" id="{408ABB88-BF03-546C-7942-9B8E8CCC9D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4BE9CB-FBC1-D193-C43E-818C9487584E}"/>
              </a:ext>
            </a:extLst>
          </p:cNvPr>
          <p:cNvSpPr>
            <a:spLocks noGrp="1"/>
          </p:cNvSpPr>
          <p:nvPr>
            <p:ph type="sldNum" sz="quarter" idx="12"/>
          </p:nvPr>
        </p:nvSpPr>
        <p:spPr/>
        <p:txBody>
          <a:bodyPr/>
          <a:lstStyle/>
          <a:p>
            <a:fld id="{2AF7C8E0-1568-4302-9344-86EC3E8011D3}" type="slidenum">
              <a:rPr lang="en-IN" smtClean="0"/>
              <a:t>‹#›</a:t>
            </a:fld>
            <a:endParaRPr lang="en-IN"/>
          </a:p>
        </p:txBody>
      </p:sp>
    </p:spTree>
    <p:extLst>
      <p:ext uri="{BB962C8B-B14F-4D97-AF65-F5344CB8AC3E}">
        <p14:creationId xmlns:p14="http://schemas.microsoft.com/office/powerpoint/2010/main" val="4275297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1D4041-9C4A-75CE-3ADD-C2CA559020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274F1A-9D00-41BF-C5DE-385DC6B365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2EBA61-AD3E-CD0C-40FD-26EF87E34053}"/>
              </a:ext>
            </a:extLst>
          </p:cNvPr>
          <p:cNvSpPr>
            <a:spLocks noGrp="1"/>
          </p:cNvSpPr>
          <p:nvPr>
            <p:ph type="dt" sz="half" idx="10"/>
          </p:nvPr>
        </p:nvSpPr>
        <p:spPr/>
        <p:txBody>
          <a:bodyPr/>
          <a:lstStyle/>
          <a:p>
            <a:fld id="{A75263ED-AD07-4259-A891-12D2BF842353}" type="datetimeFigureOut">
              <a:rPr lang="en-IN" smtClean="0"/>
              <a:t>10-03-2026</a:t>
            </a:fld>
            <a:endParaRPr lang="en-IN"/>
          </a:p>
        </p:txBody>
      </p:sp>
      <p:sp>
        <p:nvSpPr>
          <p:cNvPr id="5" name="Footer Placeholder 4">
            <a:extLst>
              <a:ext uri="{FF2B5EF4-FFF2-40B4-BE49-F238E27FC236}">
                <a16:creationId xmlns:a16="http://schemas.microsoft.com/office/drawing/2014/main" id="{8020EF88-3BC1-CAE8-464A-EE866BB73F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7804B4-DBE9-5334-46C1-21697EFCBF15}"/>
              </a:ext>
            </a:extLst>
          </p:cNvPr>
          <p:cNvSpPr>
            <a:spLocks noGrp="1"/>
          </p:cNvSpPr>
          <p:nvPr>
            <p:ph type="sldNum" sz="quarter" idx="12"/>
          </p:nvPr>
        </p:nvSpPr>
        <p:spPr/>
        <p:txBody>
          <a:bodyPr/>
          <a:lstStyle/>
          <a:p>
            <a:fld id="{2AF7C8E0-1568-4302-9344-86EC3E8011D3}" type="slidenum">
              <a:rPr lang="en-IN" smtClean="0"/>
              <a:t>‹#›</a:t>
            </a:fld>
            <a:endParaRPr lang="en-IN"/>
          </a:p>
        </p:txBody>
      </p:sp>
    </p:spTree>
    <p:extLst>
      <p:ext uri="{BB962C8B-B14F-4D97-AF65-F5344CB8AC3E}">
        <p14:creationId xmlns:p14="http://schemas.microsoft.com/office/powerpoint/2010/main" val="1616965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FB5F5D-DE65-CB8B-666E-249CCFBE5F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0B36B3-2009-7781-3B0E-C2CA79C7A3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BC3C34-09C1-282A-4278-880391ED88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5263ED-AD07-4259-A891-12D2BF842353}" type="datetimeFigureOut">
              <a:rPr lang="en-IN" smtClean="0"/>
              <a:t>10-03-2026</a:t>
            </a:fld>
            <a:endParaRPr lang="en-IN"/>
          </a:p>
        </p:txBody>
      </p:sp>
      <p:sp>
        <p:nvSpPr>
          <p:cNvPr id="5" name="Footer Placeholder 4">
            <a:extLst>
              <a:ext uri="{FF2B5EF4-FFF2-40B4-BE49-F238E27FC236}">
                <a16:creationId xmlns:a16="http://schemas.microsoft.com/office/drawing/2014/main" id="{F93D2624-FE0A-8C7E-3DE8-B97A3E59D4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6EBC79E-9127-BD4C-0C4D-25AC842036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F7C8E0-1568-4302-9344-86EC3E8011D3}" type="slidenum">
              <a:rPr lang="en-IN" smtClean="0"/>
              <a:t>‹#›</a:t>
            </a:fld>
            <a:endParaRPr lang="en-IN"/>
          </a:p>
        </p:txBody>
      </p:sp>
    </p:spTree>
    <p:extLst>
      <p:ext uri="{BB962C8B-B14F-4D97-AF65-F5344CB8AC3E}">
        <p14:creationId xmlns:p14="http://schemas.microsoft.com/office/powerpoint/2010/main" val="7263866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2D8EB-45FF-E0EF-4B63-0DF885FA74E7}"/>
              </a:ext>
            </a:extLst>
          </p:cNvPr>
          <p:cNvSpPr>
            <a:spLocks noGrp="1"/>
          </p:cNvSpPr>
          <p:nvPr>
            <p:ph type="ctrTitle"/>
          </p:nvPr>
        </p:nvSpPr>
        <p:spPr/>
        <p:txBody>
          <a:bodyPr/>
          <a:lstStyle/>
          <a:p>
            <a:endParaRPr lang="en-IN"/>
          </a:p>
        </p:txBody>
      </p:sp>
      <p:pic>
        <p:nvPicPr>
          <p:cNvPr id="7" name="Picture 6">
            <a:extLst>
              <a:ext uri="{FF2B5EF4-FFF2-40B4-BE49-F238E27FC236}">
                <a16:creationId xmlns:a16="http://schemas.microsoft.com/office/drawing/2014/main" id="{2BE6876C-D96C-B9BE-4CD9-3440EB06CD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9E95E49B-025E-0053-9737-5B39B2031DF7}"/>
              </a:ext>
            </a:extLst>
          </p:cNvPr>
          <p:cNvSpPr txBox="1"/>
          <p:nvPr/>
        </p:nvSpPr>
        <p:spPr>
          <a:xfrm>
            <a:off x="200025" y="228600"/>
            <a:ext cx="11858625" cy="830997"/>
          </a:xfrm>
          <a:prstGeom prst="rect">
            <a:avLst/>
          </a:prstGeom>
          <a:noFill/>
        </p:spPr>
        <p:txBody>
          <a:bodyPr wrap="square" rtlCol="0">
            <a:spAutoFit/>
          </a:bodyPr>
          <a:lstStyle/>
          <a:p>
            <a:pPr algn="ctr"/>
            <a:r>
              <a:rPr lang="en-GB" sz="4800" dirty="0">
                <a:solidFill>
                  <a:schemeClr val="accent3">
                    <a:lumMod val="50000"/>
                  </a:schemeClr>
                </a:solidFill>
              </a:rPr>
              <a:t>KPI Analysis of Lowell General Hospital</a:t>
            </a:r>
            <a:endParaRPr lang="en-IN" sz="4800" dirty="0">
              <a:solidFill>
                <a:schemeClr val="accent3">
                  <a:lumMod val="50000"/>
                </a:schemeClr>
              </a:solidFill>
            </a:endParaRPr>
          </a:p>
        </p:txBody>
      </p:sp>
    </p:spTree>
    <p:extLst>
      <p:ext uri="{BB962C8B-B14F-4D97-AF65-F5344CB8AC3E}">
        <p14:creationId xmlns:p14="http://schemas.microsoft.com/office/powerpoint/2010/main" val="747431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85D7A4-0E0F-7936-628A-59E270BDA874}"/>
              </a:ext>
            </a:extLst>
          </p:cNvPr>
          <p:cNvSpPr/>
          <p:nvPr/>
        </p:nvSpPr>
        <p:spPr>
          <a:xfrm>
            <a:off x="0" y="0"/>
            <a:ext cx="12192000" cy="1200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5A1007B7-1BF0-2907-A211-AEB2389414E6}"/>
              </a:ext>
            </a:extLst>
          </p:cNvPr>
          <p:cNvSpPr>
            <a:spLocks noGrp="1"/>
          </p:cNvSpPr>
          <p:nvPr>
            <p:ph type="title"/>
          </p:nvPr>
        </p:nvSpPr>
        <p:spPr>
          <a:xfrm>
            <a:off x="838200" y="0"/>
            <a:ext cx="10515600" cy="1081883"/>
          </a:xfrm>
        </p:spPr>
        <p:txBody>
          <a:bodyPr/>
          <a:lstStyle/>
          <a:p>
            <a:pPr algn="ctr"/>
            <a:r>
              <a:rPr lang="en-GB" b="1" dirty="0">
                <a:solidFill>
                  <a:schemeClr val="bg1"/>
                </a:solidFill>
              </a:rPr>
              <a:t>Problem Statement and objective</a:t>
            </a:r>
            <a:endParaRPr lang="en-IN" b="1" dirty="0">
              <a:solidFill>
                <a:schemeClr val="bg1"/>
              </a:solidFill>
            </a:endParaRPr>
          </a:p>
        </p:txBody>
      </p:sp>
      <p:sp>
        <p:nvSpPr>
          <p:cNvPr id="5" name="TextBox 4">
            <a:extLst>
              <a:ext uri="{FF2B5EF4-FFF2-40B4-BE49-F238E27FC236}">
                <a16:creationId xmlns:a16="http://schemas.microsoft.com/office/drawing/2014/main" id="{6B5AC606-2C14-56F3-C899-8427D93A1E1E}"/>
              </a:ext>
            </a:extLst>
          </p:cNvPr>
          <p:cNvSpPr txBox="1"/>
          <p:nvPr/>
        </p:nvSpPr>
        <p:spPr>
          <a:xfrm>
            <a:off x="0" y="1353346"/>
            <a:ext cx="12192000" cy="4924425"/>
          </a:xfrm>
          <a:prstGeom prst="rect">
            <a:avLst/>
          </a:prstGeom>
          <a:noFill/>
        </p:spPr>
        <p:txBody>
          <a:bodyPr wrap="square" rtlCol="0">
            <a:spAutoFit/>
          </a:bodyPr>
          <a:lstStyle/>
          <a:p>
            <a:r>
              <a:rPr lang="en-GB" sz="2800" b="1" dirty="0"/>
              <a:t>Problem Statement:</a:t>
            </a:r>
          </a:p>
          <a:p>
            <a:endParaRPr lang="en-GB" sz="3200" b="1" dirty="0"/>
          </a:p>
          <a:p>
            <a:r>
              <a:rPr lang="en-GB" dirty="0"/>
              <a:t>Lowell General Hospital focuses on improving patient safety, operational efficiency, and overall patient satisfaction. Monitoring key hospital performance metrics is essential to identify trends, evaluate service quality, and ensure effective healthcare management.</a:t>
            </a:r>
          </a:p>
          <a:p>
            <a:r>
              <a:rPr lang="en-GB" dirty="0"/>
              <a:t>A structured KPI analysis helps uncover performance gaps and supports data-driven decision making to enhance patient experience.</a:t>
            </a:r>
          </a:p>
          <a:p>
            <a:endParaRPr lang="en-GB" b="1" dirty="0"/>
          </a:p>
          <a:p>
            <a:r>
              <a:rPr lang="en-GB" sz="2800" b="1" dirty="0"/>
              <a:t>Project Objectives:</a:t>
            </a:r>
          </a:p>
          <a:p>
            <a:endParaRPr lang="en-GB" sz="2800" dirty="0"/>
          </a:p>
          <a:p>
            <a:pPr marL="285750" indent="-285750">
              <a:buFont typeface="Wingdings" panose="05000000000000000000" pitchFamily="2" charset="2"/>
              <a:buChar char="Ø"/>
            </a:pPr>
            <a:r>
              <a:rPr lang="en-GB" dirty="0"/>
              <a:t>Evaluate how hospital KPIs impact patient satisfaction and safety</a:t>
            </a:r>
          </a:p>
          <a:p>
            <a:pPr marL="285750" indent="-285750">
              <a:buFont typeface="Wingdings" panose="05000000000000000000" pitchFamily="2" charset="2"/>
              <a:buChar char="Ø"/>
            </a:pPr>
            <a:r>
              <a:rPr lang="en-GB" dirty="0"/>
              <a:t>Identify relationships and correlations between different KPIs</a:t>
            </a:r>
          </a:p>
          <a:p>
            <a:pPr marL="285750" indent="-285750">
              <a:buFont typeface="Wingdings" panose="05000000000000000000" pitchFamily="2" charset="2"/>
              <a:buChar char="Ø"/>
            </a:pPr>
            <a:r>
              <a:rPr lang="en-GB" dirty="0"/>
              <a:t>Benchmark hospital performance to identify areas of improvement</a:t>
            </a:r>
          </a:p>
          <a:p>
            <a:pPr marL="285750" indent="-285750">
              <a:buFont typeface="Wingdings" panose="05000000000000000000" pitchFamily="2" charset="2"/>
              <a:buChar char="Ø"/>
            </a:pPr>
            <a:r>
              <a:rPr lang="en-GB" dirty="0"/>
              <a:t>Provide data-driven recommendations to improve healthcare services</a:t>
            </a:r>
          </a:p>
          <a:p>
            <a:endParaRPr lang="en-IN" dirty="0"/>
          </a:p>
        </p:txBody>
      </p:sp>
    </p:spTree>
    <p:extLst>
      <p:ext uri="{BB962C8B-B14F-4D97-AF65-F5344CB8AC3E}">
        <p14:creationId xmlns:p14="http://schemas.microsoft.com/office/powerpoint/2010/main" val="1882130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34986D-5120-1F34-AAB0-C0713059FD0C}"/>
              </a:ext>
            </a:extLst>
          </p:cNvPr>
          <p:cNvSpPr/>
          <p:nvPr/>
        </p:nvSpPr>
        <p:spPr>
          <a:xfrm>
            <a:off x="0" y="0"/>
            <a:ext cx="12192000" cy="1200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dirty="0"/>
              <a:t>Dataset Overview</a:t>
            </a:r>
            <a:endParaRPr lang="en-IN" sz="4400" dirty="0"/>
          </a:p>
        </p:txBody>
      </p:sp>
      <p:sp>
        <p:nvSpPr>
          <p:cNvPr id="3" name="TextBox 2">
            <a:extLst>
              <a:ext uri="{FF2B5EF4-FFF2-40B4-BE49-F238E27FC236}">
                <a16:creationId xmlns:a16="http://schemas.microsoft.com/office/drawing/2014/main" id="{3182C6A3-DE91-FABE-1D19-4E12E5FDBFCA}"/>
              </a:ext>
            </a:extLst>
          </p:cNvPr>
          <p:cNvSpPr txBox="1"/>
          <p:nvPr/>
        </p:nvSpPr>
        <p:spPr>
          <a:xfrm>
            <a:off x="1" y="1357313"/>
            <a:ext cx="4529138" cy="2923877"/>
          </a:xfrm>
          <a:prstGeom prst="rect">
            <a:avLst/>
          </a:prstGeom>
          <a:noFill/>
        </p:spPr>
        <p:txBody>
          <a:bodyPr wrap="square" rtlCol="0">
            <a:spAutoFit/>
          </a:bodyPr>
          <a:lstStyle/>
          <a:p>
            <a:r>
              <a:rPr lang="en-GB" sz="2400" b="1" dirty="0"/>
              <a:t>Data Source:</a:t>
            </a:r>
          </a:p>
          <a:p>
            <a:r>
              <a:rPr lang="en-GB" dirty="0"/>
              <a:t>Lowell General Hospital Healthcare Dataset</a:t>
            </a:r>
          </a:p>
          <a:p>
            <a:endParaRPr lang="en-GB" dirty="0"/>
          </a:p>
          <a:p>
            <a:r>
              <a:rPr lang="en-GB" sz="2400" b="1" dirty="0"/>
              <a:t>Dataset Size:</a:t>
            </a:r>
          </a:p>
          <a:p>
            <a:r>
              <a:rPr lang="en-GB" dirty="0"/>
              <a:t>60 Records × 4 Variables</a:t>
            </a:r>
          </a:p>
          <a:p>
            <a:endParaRPr lang="en-GB" dirty="0"/>
          </a:p>
          <a:p>
            <a:r>
              <a:rPr lang="en-GB" sz="2400" b="1" dirty="0"/>
              <a:t>Time Period:</a:t>
            </a:r>
          </a:p>
          <a:p>
            <a:r>
              <a:rPr lang="en-GB" dirty="0"/>
              <a:t>January 2020 – December 2024</a:t>
            </a:r>
          </a:p>
          <a:p>
            <a:endParaRPr lang="en-IN" dirty="0"/>
          </a:p>
        </p:txBody>
      </p:sp>
      <p:sp>
        <p:nvSpPr>
          <p:cNvPr id="4" name="TextBox 3">
            <a:extLst>
              <a:ext uri="{FF2B5EF4-FFF2-40B4-BE49-F238E27FC236}">
                <a16:creationId xmlns:a16="http://schemas.microsoft.com/office/drawing/2014/main" id="{B5D01BC6-40F5-1230-2FDF-34CD9F9BA443}"/>
              </a:ext>
            </a:extLst>
          </p:cNvPr>
          <p:cNvSpPr txBox="1"/>
          <p:nvPr/>
        </p:nvSpPr>
        <p:spPr>
          <a:xfrm>
            <a:off x="5729288" y="1357313"/>
            <a:ext cx="6186487" cy="3508653"/>
          </a:xfrm>
          <a:prstGeom prst="rect">
            <a:avLst/>
          </a:prstGeom>
          <a:noFill/>
        </p:spPr>
        <p:txBody>
          <a:bodyPr wrap="square" rtlCol="0">
            <a:spAutoFit/>
          </a:bodyPr>
          <a:lstStyle/>
          <a:p>
            <a:r>
              <a:rPr lang="en-GB" sz="2400" b="1" dirty="0"/>
              <a:t>Key Variables:</a:t>
            </a:r>
          </a:p>
          <a:p>
            <a:endParaRPr lang="en-GB" dirty="0"/>
          </a:p>
          <a:p>
            <a:pPr marL="285750" indent="-285750">
              <a:buFont typeface="Wingdings" panose="05000000000000000000" pitchFamily="2" charset="2"/>
              <a:buChar char="Ø"/>
            </a:pPr>
            <a:r>
              <a:rPr lang="en-GB" b="1" dirty="0"/>
              <a:t>Month</a:t>
            </a:r>
            <a:r>
              <a:rPr lang="en-GB" dirty="0"/>
              <a:t> – Time period of KPI measurement</a:t>
            </a:r>
          </a:p>
          <a:p>
            <a:endParaRPr lang="en-GB" dirty="0"/>
          </a:p>
          <a:p>
            <a:pPr marL="285750" indent="-285750">
              <a:buFont typeface="Wingdings" panose="05000000000000000000" pitchFamily="2" charset="2"/>
              <a:buChar char="Ø"/>
            </a:pPr>
            <a:r>
              <a:rPr lang="en-GB" b="1" dirty="0"/>
              <a:t>Average Licensed Bed Occupancy Rate</a:t>
            </a:r>
            <a:r>
              <a:rPr lang="en-GB" dirty="0"/>
              <a:t> – Percentage of hospital beds occupied</a:t>
            </a:r>
          </a:p>
          <a:p>
            <a:endParaRPr lang="en-GB" dirty="0"/>
          </a:p>
          <a:p>
            <a:pPr marL="285750" indent="-285750">
              <a:buFont typeface="Wingdings" panose="05000000000000000000" pitchFamily="2" charset="2"/>
              <a:buChar char="Ø"/>
            </a:pPr>
            <a:r>
              <a:rPr lang="en-GB" b="1" dirty="0"/>
              <a:t>Unassisted Fall Rate per 1,000 Patient Days</a:t>
            </a:r>
            <a:r>
              <a:rPr lang="en-GB" dirty="0"/>
              <a:t> – Number of patient falls occurring without staff assistance</a:t>
            </a:r>
          </a:p>
          <a:p>
            <a:endParaRPr lang="en-GB" dirty="0"/>
          </a:p>
          <a:p>
            <a:pPr marL="285750" indent="-285750">
              <a:buFont typeface="Wingdings" panose="05000000000000000000" pitchFamily="2" charset="2"/>
              <a:buChar char="Ø"/>
            </a:pPr>
            <a:r>
              <a:rPr lang="en-GB" b="1" dirty="0"/>
              <a:t>Staff Responsiveness Domain Top Box Score</a:t>
            </a:r>
            <a:r>
              <a:rPr lang="en-GB" dirty="0"/>
              <a:t> – Percentage of patients reporting timely staff response</a:t>
            </a:r>
          </a:p>
        </p:txBody>
      </p:sp>
    </p:spTree>
    <p:extLst>
      <p:ext uri="{BB962C8B-B14F-4D97-AF65-F5344CB8AC3E}">
        <p14:creationId xmlns:p14="http://schemas.microsoft.com/office/powerpoint/2010/main" val="4258250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965B40-BE2E-CF2F-E952-8B98FF65C440}"/>
              </a:ext>
            </a:extLst>
          </p:cNvPr>
          <p:cNvSpPr/>
          <p:nvPr/>
        </p:nvSpPr>
        <p:spPr>
          <a:xfrm>
            <a:off x="0" y="0"/>
            <a:ext cx="12192000" cy="1200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dirty="0"/>
              <a:t>Understanding KPIs</a:t>
            </a:r>
            <a:endParaRPr lang="en-IN" sz="4400" dirty="0"/>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A1A8E38-FE2B-BB18-05B8-884BF5D9B929}"/>
                  </a:ext>
                </a:extLst>
              </p:cNvPr>
              <p:cNvSpPr txBox="1"/>
              <p:nvPr/>
            </p:nvSpPr>
            <p:spPr>
              <a:xfrm>
                <a:off x="185738" y="1457325"/>
                <a:ext cx="11872912" cy="3796167"/>
              </a:xfrm>
              <a:prstGeom prst="rect">
                <a:avLst/>
              </a:prstGeom>
              <a:noFill/>
            </p:spPr>
            <p:txBody>
              <a:bodyPr wrap="square" rtlCol="0">
                <a:spAutoFit/>
              </a:bodyPr>
              <a:lstStyle/>
              <a:p>
                <a:r>
                  <a:rPr lang="en-GB" sz="2400" b="1" dirty="0"/>
                  <a:t>Average Licensed Bed Occupancy Rate:</a:t>
                </a:r>
              </a:p>
              <a:p>
                <a:endParaRPr lang="en-GB" sz="2400" b="1" dirty="0"/>
              </a:p>
              <a:p>
                <a:r>
                  <a:rPr lang="en-GB" dirty="0"/>
                  <a:t>This KPI measures the percentage of hospital beds occupied by patients during a given period.</a:t>
                </a:r>
                <a:br>
                  <a:rPr lang="en-GB" dirty="0"/>
                </a:br>
                <a:r>
                  <a:rPr lang="en-GB" dirty="0"/>
                  <a:t>It helps evaluate hospital capacity utilization and operational efficiency.</a:t>
                </a:r>
              </a:p>
              <a:p>
                <a:endParaRPr lang="en-IN" dirty="0"/>
              </a:p>
              <a:p>
                <a:r>
                  <a:rPr lang="en-IN" sz="2400" b="1" dirty="0"/>
                  <a:t>Calculation Formula:</a:t>
                </a:r>
              </a:p>
              <a:p>
                <a:endParaRPr lang="en-IN" sz="2400" b="1" dirty="0"/>
              </a:p>
              <a:p>
                <a:endParaRPr lang="en-IN" sz="2400" b="1" dirty="0"/>
              </a:p>
              <a:p>
                <a14:m>
                  <m:oMathPara xmlns:m="http://schemas.openxmlformats.org/officeDocument/2006/math">
                    <m:oMathParaPr>
                      <m:jc m:val="centerGroup"/>
                    </m:oMathParaPr>
                    <m:oMath xmlns:m="http://schemas.openxmlformats.org/officeDocument/2006/math">
                      <m:r>
                        <m:rPr>
                          <m:nor/>
                        </m:rPr>
                        <a:rPr lang="en-IN" sz="2400" b="0"/>
                        <m:t>Bed</m:t>
                      </m:r>
                      <m:r>
                        <m:rPr>
                          <m:nor/>
                        </m:rPr>
                        <a:rPr lang="en-IN" sz="2400" b="0" i="1"/>
                        <m:t> </m:t>
                      </m:r>
                      <m:r>
                        <m:rPr>
                          <m:nor/>
                        </m:rPr>
                        <a:rPr lang="en-IN" sz="2400" b="0" i="1"/>
                        <m:t>Occupancy</m:t>
                      </m:r>
                      <m:r>
                        <m:rPr>
                          <m:nor/>
                        </m:rPr>
                        <a:rPr lang="en-IN" sz="2400" b="0" i="1"/>
                        <m:t> </m:t>
                      </m:r>
                      <m:r>
                        <m:rPr>
                          <m:nor/>
                        </m:rPr>
                        <a:rPr lang="en-IN" sz="2400" b="0" i="1"/>
                        <m:t>Rate</m:t>
                      </m:r>
                      <m:r>
                        <a:rPr lang="en-IN" sz="2400"/>
                        <m:t>=</m:t>
                      </m:r>
                      <m:f>
                        <m:fPr>
                          <m:ctrlPr>
                            <a:rPr lang="ar-AE" sz="2400" i="1"/>
                          </m:ctrlPr>
                        </m:fPr>
                        <m:num>
                          <m:r>
                            <m:rPr>
                              <m:nor/>
                            </m:rPr>
                            <a:rPr lang="en-IN" sz="2400" i="1"/>
                            <m:t>Number</m:t>
                          </m:r>
                          <m:r>
                            <m:rPr>
                              <m:nor/>
                            </m:rPr>
                            <a:rPr lang="en-IN" sz="2400" i="1"/>
                            <m:t> </m:t>
                          </m:r>
                          <m:r>
                            <m:rPr>
                              <m:nor/>
                            </m:rPr>
                            <a:rPr lang="en-IN" sz="2400" i="1"/>
                            <m:t>of</m:t>
                          </m:r>
                          <m:r>
                            <m:rPr>
                              <m:nor/>
                            </m:rPr>
                            <a:rPr lang="en-IN" sz="2400" i="1"/>
                            <m:t> </m:t>
                          </m:r>
                          <m:r>
                            <m:rPr>
                              <m:nor/>
                            </m:rPr>
                            <a:rPr lang="en-IN" sz="2400" i="1"/>
                            <m:t>Patients</m:t>
                          </m:r>
                          <m:r>
                            <m:rPr>
                              <m:nor/>
                            </m:rPr>
                            <a:rPr lang="en-IN" sz="2400" i="1"/>
                            <m:t> </m:t>
                          </m:r>
                          <m:r>
                            <m:rPr>
                              <m:nor/>
                            </m:rPr>
                            <a:rPr lang="en-IN" sz="2400" i="1"/>
                            <m:t>in</m:t>
                          </m:r>
                          <m:r>
                            <m:rPr>
                              <m:nor/>
                            </m:rPr>
                            <a:rPr lang="en-IN" sz="2400" i="1"/>
                            <m:t> </m:t>
                          </m:r>
                          <m:r>
                            <m:rPr>
                              <m:nor/>
                            </m:rPr>
                            <a:rPr lang="en-IN" sz="2400" i="1"/>
                            <m:t>Licensed</m:t>
                          </m:r>
                          <m:r>
                            <m:rPr>
                              <m:nor/>
                            </m:rPr>
                            <a:rPr lang="en-IN" sz="2400" i="1"/>
                            <m:t> </m:t>
                          </m:r>
                          <m:r>
                            <m:rPr>
                              <m:nor/>
                            </m:rPr>
                            <a:rPr lang="en-IN" sz="2400" i="1"/>
                            <m:t>Beds</m:t>
                          </m:r>
                          <m:r>
                            <m:rPr>
                              <m:nor/>
                            </m:rPr>
                            <a:rPr lang="en-IN" sz="2400" i="1"/>
                            <m:t> </m:t>
                          </m:r>
                          <m:r>
                            <m:rPr>
                              <m:nor/>
                            </m:rPr>
                            <a:rPr lang="en-IN" sz="2400" i="1"/>
                            <m:t>per</m:t>
                          </m:r>
                          <m:r>
                            <m:rPr>
                              <m:nor/>
                            </m:rPr>
                            <a:rPr lang="en-IN" sz="2400" i="1"/>
                            <m:t> </m:t>
                          </m:r>
                          <m:r>
                            <m:rPr>
                              <m:nor/>
                            </m:rPr>
                            <a:rPr lang="en-IN" sz="2400" i="1"/>
                            <m:t>Day</m:t>
                          </m:r>
                        </m:num>
                        <m:den>
                          <m:r>
                            <m:rPr>
                              <m:nor/>
                            </m:rPr>
                            <a:rPr lang="en-IN" sz="2400" i="1"/>
                            <m:t>Total</m:t>
                          </m:r>
                          <m:r>
                            <m:rPr>
                              <m:nor/>
                            </m:rPr>
                            <a:rPr lang="en-IN" sz="2400" i="1"/>
                            <m:t> </m:t>
                          </m:r>
                          <m:r>
                            <m:rPr>
                              <m:nor/>
                            </m:rPr>
                            <a:rPr lang="en-IN" sz="2400" i="1"/>
                            <m:t>Number</m:t>
                          </m:r>
                          <m:r>
                            <m:rPr>
                              <m:nor/>
                            </m:rPr>
                            <a:rPr lang="en-IN" sz="2400" i="1"/>
                            <m:t> </m:t>
                          </m:r>
                          <m:r>
                            <m:rPr>
                              <m:nor/>
                            </m:rPr>
                            <a:rPr lang="en-IN" sz="2400" i="1"/>
                            <m:t>of</m:t>
                          </m:r>
                          <m:r>
                            <m:rPr>
                              <m:nor/>
                            </m:rPr>
                            <a:rPr lang="en-IN" sz="2400" i="1"/>
                            <m:t> </m:t>
                          </m:r>
                          <m:r>
                            <m:rPr>
                              <m:nor/>
                            </m:rPr>
                            <a:rPr lang="en-IN" sz="2400" i="1"/>
                            <m:t>Licensed</m:t>
                          </m:r>
                          <m:r>
                            <m:rPr>
                              <m:nor/>
                            </m:rPr>
                            <a:rPr lang="en-IN" sz="2400" i="1"/>
                            <m:t> </m:t>
                          </m:r>
                          <m:r>
                            <m:rPr>
                              <m:nor/>
                            </m:rPr>
                            <a:rPr lang="en-IN" sz="2400" i="1"/>
                            <m:t>Beds</m:t>
                          </m:r>
                        </m:den>
                      </m:f>
                      <m:r>
                        <a:rPr lang="ar-AE" sz="2400"/>
                        <m:t>×</m:t>
                      </m:r>
                      <m:r>
                        <a:rPr lang="ar-AE" sz="2400"/>
                        <m:t>100</m:t>
                      </m:r>
                    </m:oMath>
                  </m:oMathPara>
                </a14:m>
                <a:endParaRPr lang="ar-AE" sz="2400" b="0" dirty="0"/>
              </a:p>
              <a:p>
                <a:endParaRPr lang="en-IN" dirty="0"/>
              </a:p>
            </p:txBody>
          </p:sp>
        </mc:Choice>
        <mc:Fallback>
          <p:sp>
            <p:nvSpPr>
              <p:cNvPr id="3" name="TextBox 2">
                <a:extLst>
                  <a:ext uri="{FF2B5EF4-FFF2-40B4-BE49-F238E27FC236}">
                    <a16:creationId xmlns:a16="http://schemas.microsoft.com/office/drawing/2014/main" id="{FA1A8E38-FE2B-BB18-05B8-884BF5D9B929}"/>
                  </a:ext>
                </a:extLst>
              </p:cNvPr>
              <p:cNvSpPr txBox="1">
                <a:spLocks noRot="1" noChangeAspect="1" noMove="1" noResize="1" noEditPoints="1" noAdjustHandles="1" noChangeArrowheads="1" noChangeShapeType="1" noTextEdit="1"/>
              </p:cNvSpPr>
              <p:nvPr/>
            </p:nvSpPr>
            <p:spPr>
              <a:xfrm>
                <a:off x="185738" y="1457325"/>
                <a:ext cx="11872912" cy="3796167"/>
              </a:xfrm>
              <a:prstGeom prst="rect">
                <a:avLst/>
              </a:prstGeom>
              <a:blipFill>
                <a:blip r:embed="rId2"/>
                <a:stretch>
                  <a:fillRect l="-770" t="-1284"/>
                </a:stretch>
              </a:blipFill>
            </p:spPr>
            <p:txBody>
              <a:bodyPr/>
              <a:lstStyle/>
              <a:p>
                <a:r>
                  <a:rPr lang="en-IN">
                    <a:noFill/>
                  </a:rPr>
                  <a:t> </a:t>
                </a:r>
              </a:p>
            </p:txBody>
          </p:sp>
        </mc:Fallback>
      </mc:AlternateContent>
    </p:spTree>
    <p:extLst>
      <p:ext uri="{BB962C8B-B14F-4D97-AF65-F5344CB8AC3E}">
        <p14:creationId xmlns:p14="http://schemas.microsoft.com/office/powerpoint/2010/main" val="17594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FAE652-A048-6AA8-D501-A1A622518E03}"/>
              </a:ext>
            </a:extLst>
          </p:cNvPr>
          <p:cNvSpPr/>
          <p:nvPr/>
        </p:nvSpPr>
        <p:spPr>
          <a:xfrm>
            <a:off x="0" y="0"/>
            <a:ext cx="12192000" cy="1200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dirty="0"/>
              <a:t>Understanding KPIs</a:t>
            </a:r>
            <a:endParaRPr lang="en-IN" sz="4400" dirty="0"/>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48EB96F-4FF1-0D21-970D-3A1B597CC5B5}"/>
                  </a:ext>
                </a:extLst>
              </p:cNvPr>
              <p:cNvSpPr txBox="1"/>
              <p:nvPr/>
            </p:nvSpPr>
            <p:spPr>
              <a:xfrm>
                <a:off x="171450" y="1402468"/>
                <a:ext cx="11887200" cy="5455532"/>
              </a:xfrm>
              <a:prstGeom prst="rect">
                <a:avLst/>
              </a:prstGeom>
              <a:noFill/>
            </p:spPr>
            <p:txBody>
              <a:bodyPr wrap="square" rtlCol="0">
                <a:spAutoFit/>
              </a:bodyPr>
              <a:lstStyle/>
              <a:p>
                <a:r>
                  <a:rPr lang="en-GB" sz="2400" b="1" dirty="0"/>
                  <a:t>Staff Responsiveness – Top Box Score:</a:t>
                </a:r>
              </a:p>
              <a:p>
                <a:endParaRPr lang="en-GB" sz="2400" b="1" dirty="0"/>
              </a:p>
              <a:p>
                <a:pPr algn="just"/>
                <a:r>
                  <a:rPr lang="en-GB" dirty="0"/>
                  <a:t>This KPI measures the percentage of patients who reported that hospital staff always responded promptly to their requests.</a:t>
                </a:r>
                <a:br>
                  <a:rPr lang="en-GB" dirty="0"/>
                </a:br>
                <a:r>
                  <a:rPr lang="en-GB" dirty="0"/>
                  <a:t>It reflects patient satisfaction with staff responsiveness and quality of care.</a:t>
                </a:r>
              </a:p>
              <a:p>
                <a:pPr algn="just"/>
                <a:r>
                  <a:rPr lang="en-GB" dirty="0"/>
                  <a:t>The score is derived from the </a:t>
                </a:r>
                <a:r>
                  <a:rPr lang="en-GB" b="1" dirty="0"/>
                  <a:t>HCAHPS</a:t>
                </a:r>
                <a:r>
                  <a:rPr lang="en-GB" dirty="0"/>
                  <a:t> (Hospital Consumer Assessment of Healthcare Providers and Systems) survey, which is sent to patients after discharge.</a:t>
                </a:r>
              </a:p>
              <a:p>
                <a:pPr algn="just"/>
                <a:endParaRPr lang="en-GB" dirty="0"/>
              </a:p>
              <a:p>
                <a:r>
                  <a:rPr lang="en-GB" sz="2400" b="1" dirty="0"/>
                  <a:t>Survey Questions:</a:t>
                </a:r>
              </a:p>
              <a:p>
                <a:endParaRPr lang="en-GB" sz="2400" b="1" dirty="0"/>
              </a:p>
              <a:p>
                <a:r>
                  <a:rPr lang="en-GB" b="1" dirty="0"/>
                  <a:t>Q1:</a:t>
                </a:r>
                <a:r>
                  <a:rPr lang="en-GB" dirty="0"/>
                  <a:t> How often did you receive help promptly after pressing the call button?</a:t>
                </a:r>
              </a:p>
              <a:p>
                <a:r>
                  <a:rPr lang="en-GB" b="1" dirty="0"/>
                  <a:t>Q2:</a:t>
                </a:r>
                <a:r>
                  <a:rPr lang="en-GB" dirty="0"/>
                  <a:t> How often did you receive timely assistance with bathroom needs or using a bedpan?</a:t>
                </a:r>
              </a:p>
              <a:p>
                <a:r>
                  <a:rPr lang="en-GB" dirty="0"/>
                  <a:t>Patients who answer </a:t>
                </a:r>
                <a:r>
                  <a:rPr lang="en-GB" b="1" dirty="0"/>
                  <a:t>“Always”</a:t>
                </a:r>
                <a:r>
                  <a:rPr lang="en-GB" dirty="0"/>
                  <a:t> to both questions contribute to the </a:t>
                </a:r>
                <a:r>
                  <a:rPr lang="en-GB" b="1" dirty="0"/>
                  <a:t>Top Box Score</a:t>
                </a:r>
                <a:r>
                  <a:rPr lang="en-GB" dirty="0"/>
                  <a:t>.</a:t>
                </a:r>
              </a:p>
              <a:p>
                <a:endParaRPr lang="en-GB" dirty="0"/>
              </a:p>
              <a:p>
                <a:r>
                  <a:rPr lang="en-IN" sz="2000" b="1" dirty="0"/>
                  <a:t>Calculation Formula</a:t>
                </a:r>
              </a:p>
              <a:p>
                <a14:m>
                  <m:oMathPara xmlns:m="http://schemas.openxmlformats.org/officeDocument/2006/math">
                    <m:oMathParaPr>
                      <m:jc m:val="centerGroup"/>
                    </m:oMathParaPr>
                    <m:oMath xmlns:m="http://schemas.openxmlformats.org/officeDocument/2006/math">
                      <m:r>
                        <m:rPr>
                          <m:nor/>
                        </m:rPr>
                        <a:rPr lang="en-IN" b="0"/>
                        <m:t>Staff</m:t>
                      </m:r>
                      <m:r>
                        <m:rPr>
                          <m:nor/>
                        </m:rPr>
                        <a:rPr lang="en-IN" b="0" i="1"/>
                        <m:t> </m:t>
                      </m:r>
                      <m:r>
                        <m:rPr>
                          <m:nor/>
                        </m:rPr>
                        <a:rPr lang="en-IN" b="0" i="1"/>
                        <m:t>Responsiveness</m:t>
                      </m:r>
                      <m:r>
                        <m:rPr>
                          <m:nor/>
                        </m:rPr>
                        <a:rPr lang="en-IN" b="0" i="1"/>
                        <m:t> </m:t>
                      </m:r>
                      <m:r>
                        <m:rPr>
                          <m:nor/>
                        </m:rPr>
                        <a:rPr lang="en-IN" b="0" i="1"/>
                        <m:t>Top</m:t>
                      </m:r>
                      <m:r>
                        <m:rPr>
                          <m:nor/>
                        </m:rPr>
                        <a:rPr lang="en-IN" b="0" i="1"/>
                        <m:t> </m:t>
                      </m:r>
                      <m:r>
                        <m:rPr>
                          <m:nor/>
                        </m:rPr>
                        <a:rPr lang="en-IN" b="0" i="1"/>
                        <m:t>Box</m:t>
                      </m:r>
                      <m:r>
                        <m:rPr>
                          <m:nor/>
                        </m:rPr>
                        <a:rPr lang="en-IN" b="0" i="1"/>
                        <m:t> </m:t>
                      </m:r>
                      <m:r>
                        <m:rPr>
                          <m:nor/>
                        </m:rPr>
                        <a:rPr lang="en-IN" b="0" i="1"/>
                        <m:t>Score</m:t>
                      </m:r>
                      <m:r>
                        <a:rPr lang="en-IN"/>
                        <m:t>=</m:t>
                      </m:r>
                      <m:f>
                        <m:fPr>
                          <m:ctrlPr>
                            <a:rPr lang="ar-AE" i="1"/>
                          </m:ctrlPr>
                        </m:fPr>
                        <m:num>
                          <m:r>
                            <m:rPr>
                              <m:nor/>
                            </m:rPr>
                            <a:rPr lang="en-IN" i="1"/>
                            <m:t>Number</m:t>
                          </m:r>
                          <m:r>
                            <m:rPr>
                              <m:nor/>
                            </m:rPr>
                            <a:rPr lang="en-IN" i="1"/>
                            <m:t> </m:t>
                          </m:r>
                          <m:r>
                            <m:rPr>
                              <m:nor/>
                            </m:rPr>
                            <a:rPr lang="en-IN" i="1"/>
                            <m:t>of</m:t>
                          </m:r>
                          <m:r>
                            <m:rPr>
                              <m:nor/>
                            </m:rPr>
                            <a:rPr lang="en-IN" i="1"/>
                            <m:t> </m:t>
                          </m:r>
                          <m:r>
                            <m:rPr>
                              <m:nor/>
                            </m:rPr>
                            <a:rPr lang="en-IN" i="1"/>
                            <m:t>patients</m:t>
                          </m:r>
                          <m:r>
                            <m:rPr>
                              <m:nor/>
                            </m:rPr>
                            <a:rPr lang="en-IN" i="1"/>
                            <m:t> </m:t>
                          </m:r>
                          <m:r>
                            <m:rPr>
                              <m:nor/>
                            </m:rPr>
                            <a:rPr lang="en-IN" i="1"/>
                            <m:t>answering</m:t>
                          </m:r>
                          <m:r>
                            <m:rPr>
                              <m:nor/>
                            </m:rPr>
                            <a:rPr lang="en-IN" i="1"/>
                            <m:t> "</m:t>
                          </m:r>
                          <m:r>
                            <m:rPr>
                              <m:nor/>
                            </m:rPr>
                            <a:rPr lang="en-IN" i="1"/>
                            <m:t>Always</m:t>
                          </m:r>
                          <m:r>
                            <m:rPr>
                              <m:nor/>
                            </m:rPr>
                            <a:rPr lang="en-IN" i="1"/>
                            <m:t>"</m:t>
                          </m:r>
                        </m:num>
                        <m:den>
                          <m:r>
                            <m:rPr>
                              <m:nor/>
                            </m:rPr>
                            <a:rPr lang="en-IN" i="1"/>
                            <m:t>Total</m:t>
                          </m:r>
                          <m:r>
                            <m:rPr>
                              <m:nor/>
                            </m:rPr>
                            <a:rPr lang="en-IN" i="1"/>
                            <m:t> </m:t>
                          </m:r>
                          <m:r>
                            <m:rPr>
                              <m:nor/>
                            </m:rPr>
                            <a:rPr lang="en-IN" i="1"/>
                            <m:t>number</m:t>
                          </m:r>
                          <m:r>
                            <m:rPr>
                              <m:nor/>
                            </m:rPr>
                            <a:rPr lang="en-IN" i="1"/>
                            <m:t> </m:t>
                          </m:r>
                          <m:r>
                            <m:rPr>
                              <m:nor/>
                            </m:rPr>
                            <a:rPr lang="en-IN" i="1"/>
                            <m:t>of</m:t>
                          </m:r>
                          <m:r>
                            <m:rPr>
                              <m:nor/>
                            </m:rPr>
                            <a:rPr lang="en-IN" i="1"/>
                            <m:t> </m:t>
                          </m:r>
                          <m:r>
                            <m:rPr>
                              <m:nor/>
                            </m:rPr>
                            <a:rPr lang="en-IN" i="1"/>
                            <m:t>patients</m:t>
                          </m:r>
                          <m:r>
                            <m:rPr>
                              <m:nor/>
                            </m:rPr>
                            <a:rPr lang="en-IN" i="1"/>
                            <m:t> </m:t>
                          </m:r>
                          <m:r>
                            <m:rPr>
                              <m:nor/>
                            </m:rPr>
                            <a:rPr lang="en-IN" i="1"/>
                            <m:t>responding</m:t>
                          </m:r>
                        </m:den>
                      </m:f>
                      <m:r>
                        <a:rPr lang="ar-AE"/>
                        <m:t>×</m:t>
                      </m:r>
                      <m:r>
                        <a:rPr lang="ar-AE"/>
                        <m:t>100</m:t>
                      </m:r>
                    </m:oMath>
                  </m:oMathPara>
                </a14:m>
                <a:endParaRPr lang="ar-AE" b="0" dirty="0"/>
              </a:p>
              <a:p>
                <a:endParaRPr lang="en-GB" dirty="0"/>
              </a:p>
              <a:p>
                <a:endParaRPr lang="en-IN" dirty="0"/>
              </a:p>
            </p:txBody>
          </p:sp>
        </mc:Choice>
        <mc:Fallback>
          <p:sp>
            <p:nvSpPr>
              <p:cNvPr id="3" name="TextBox 2">
                <a:extLst>
                  <a:ext uri="{FF2B5EF4-FFF2-40B4-BE49-F238E27FC236}">
                    <a16:creationId xmlns:a16="http://schemas.microsoft.com/office/drawing/2014/main" id="{848EB96F-4FF1-0D21-970D-3A1B597CC5B5}"/>
                  </a:ext>
                </a:extLst>
              </p:cNvPr>
              <p:cNvSpPr txBox="1">
                <a:spLocks noRot="1" noChangeAspect="1" noMove="1" noResize="1" noEditPoints="1" noAdjustHandles="1" noChangeArrowheads="1" noChangeShapeType="1" noTextEdit="1"/>
              </p:cNvSpPr>
              <p:nvPr/>
            </p:nvSpPr>
            <p:spPr>
              <a:xfrm>
                <a:off x="171450" y="1402468"/>
                <a:ext cx="11887200" cy="5455532"/>
              </a:xfrm>
              <a:prstGeom prst="rect">
                <a:avLst/>
              </a:prstGeom>
              <a:blipFill>
                <a:blip r:embed="rId2"/>
                <a:stretch>
                  <a:fillRect l="-769" t="-894" r="-462"/>
                </a:stretch>
              </a:blipFill>
            </p:spPr>
            <p:txBody>
              <a:bodyPr/>
              <a:lstStyle/>
              <a:p>
                <a:r>
                  <a:rPr lang="en-IN">
                    <a:noFill/>
                  </a:rPr>
                  <a:t> </a:t>
                </a:r>
              </a:p>
            </p:txBody>
          </p:sp>
        </mc:Fallback>
      </mc:AlternateContent>
    </p:spTree>
    <p:extLst>
      <p:ext uri="{BB962C8B-B14F-4D97-AF65-F5344CB8AC3E}">
        <p14:creationId xmlns:p14="http://schemas.microsoft.com/office/powerpoint/2010/main" val="3372207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07DAC4-05B1-8BFF-6382-C040E45BD56E}"/>
              </a:ext>
            </a:extLst>
          </p:cNvPr>
          <p:cNvSpPr/>
          <p:nvPr/>
        </p:nvSpPr>
        <p:spPr>
          <a:xfrm>
            <a:off x="0" y="0"/>
            <a:ext cx="12192000" cy="1200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dirty="0"/>
              <a:t>Understanding KPIs</a:t>
            </a:r>
            <a:endParaRPr lang="en-IN" sz="4400" dirty="0"/>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FB85A39-0F77-2714-5938-F0F29F76A5FC}"/>
                  </a:ext>
                </a:extLst>
              </p:cNvPr>
              <p:cNvSpPr txBox="1"/>
              <p:nvPr/>
            </p:nvSpPr>
            <p:spPr>
              <a:xfrm>
                <a:off x="200025" y="1471613"/>
                <a:ext cx="11801475" cy="4624536"/>
              </a:xfrm>
              <a:prstGeom prst="rect">
                <a:avLst/>
              </a:prstGeom>
              <a:noFill/>
            </p:spPr>
            <p:txBody>
              <a:bodyPr wrap="square" rtlCol="0">
                <a:spAutoFit/>
              </a:bodyPr>
              <a:lstStyle/>
              <a:p>
                <a:r>
                  <a:rPr lang="en-GB" sz="2400" b="1" dirty="0"/>
                  <a:t>Unassisted Patient Falls per 1,000 Patient Days:</a:t>
                </a:r>
              </a:p>
              <a:p>
                <a:endParaRPr lang="en-GB" sz="2400" b="1" dirty="0"/>
              </a:p>
              <a:p>
                <a:pPr marL="285750" indent="-285750">
                  <a:buFont typeface="Wingdings" panose="05000000000000000000" pitchFamily="2" charset="2"/>
                  <a:buChar char="Ø"/>
                </a:pPr>
                <a:r>
                  <a:rPr lang="en-GB" dirty="0"/>
                  <a:t>This KPI measures the number of patient falls that occur without staff assistance per 1,000 patient days.</a:t>
                </a:r>
                <a:br>
                  <a:rPr lang="en-GB" dirty="0"/>
                </a:br>
                <a:r>
                  <a:rPr lang="en-GB" dirty="0"/>
                  <a:t>It is an important indicator of patient safety and quality of care in hospitals.</a:t>
                </a:r>
              </a:p>
              <a:p>
                <a:endParaRPr lang="en-GB" dirty="0"/>
              </a:p>
              <a:p>
                <a:pPr marL="285750" indent="-285750">
                  <a:buFont typeface="Wingdings" panose="05000000000000000000" pitchFamily="2" charset="2"/>
                  <a:buChar char="Ø"/>
                </a:pPr>
                <a:r>
                  <a:rPr lang="en-GB" dirty="0"/>
                  <a:t>This metric is monitored by the National Database of Nursing Quality Indicators (</a:t>
                </a:r>
                <a:r>
                  <a:rPr lang="en-GB" b="1" dirty="0"/>
                  <a:t>NDNQI</a:t>
                </a:r>
                <a:r>
                  <a:rPr lang="en-GB" dirty="0"/>
                  <a:t>).</a:t>
                </a:r>
              </a:p>
              <a:p>
                <a:endParaRPr lang="en-GB" dirty="0"/>
              </a:p>
              <a:p>
                <a:pPr marL="285750" indent="-285750">
                  <a:buFont typeface="Wingdings" panose="05000000000000000000" pitchFamily="2" charset="2"/>
                  <a:buChar char="Ø"/>
                </a:pPr>
                <a:r>
                  <a:rPr lang="en-GB" dirty="0"/>
                  <a:t>A patient fall is defined as an unplanned descent to the floor, with or without injury.</a:t>
                </a:r>
                <a:br>
                  <a:rPr lang="en-GB" dirty="0"/>
                </a:br>
                <a:r>
                  <a:rPr lang="en-GB" dirty="0"/>
                  <a:t>Unassisted falls occur when no staff member is present to help the patient.</a:t>
                </a:r>
              </a:p>
              <a:p>
                <a:endParaRPr lang="en-IN" dirty="0"/>
              </a:p>
              <a:p>
                <a:r>
                  <a:rPr lang="en-IN" sz="2400" b="1" dirty="0"/>
                  <a:t>Calculation Formula:</a:t>
                </a:r>
              </a:p>
              <a:p>
                <a:endParaRPr lang="en-IN" sz="2400" b="1" dirty="0"/>
              </a:p>
              <a:p>
                <a14:m>
                  <m:oMathPara xmlns:m="http://schemas.openxmlformats.org/officeDocument/2006/math">
                    <m:oMathParaPr>
                      <m:jc m:val="centerGroup"/>
                    </m:oMathParaPr>
                    <m:oMath xmlns:m="http://schemas.openxmlformats.org/officeDocument/2006/math">
                      <m:r>
                        <m:rPr>
                          <m:nor/>
                        </m:rPr>
                        <a:rPr lang="en-IN" b="0"/>
                        <m:t>Fall</m:t>
                      </m:r>
                      <m:r>
                        <m:rPr>
                          <m:nor/>
                        </m:rPr>
                        <a:rPr lang="en-IN" b="0" i="1"/>
                        <m:t> </m:t>
                      </m:r>
                      <m:r>
                        <m:rPr>
                          <m:nor/>
                        </m:rPr>
                        <a:rPr lang="en-IN" b="0" i="1"/>
                        <m:t>Rate</m:t>
                      </m:r>
                      <m:r>
                        <a:rPr lang="en-IN"/>
                        <m:t>=</m:t>
                      </m:r>
                      <m:f>
                        <m:fPr>
                          <m:ctrlPr>
                            <a:rPr lang="ar-AE" i="1"/>
                          </m:ctrlPr>
                        </m:fPr>
                        <m:num>
                          <m:r>
                            <m:rPr>
                              <m:nor/>
                            </m:rPr>
                            <a:rPr lang="en-IN" i="1"/>
                            <m:t>Number</m:t>
                          </m:r>
                          <m:r>
                            <m:rPr>
                              <m:nor/>
                            </m:rPr>
                            <a:rPr lang="en-IN" i="1"/>
                            <m:t> </m:t>
                          </m:r>
                          <m:r>
                            <m:rPr>
                              <m:nor/>
                            </m:rPr>
                            <a:rPr lang="en-IN" i="1"/>
                            <m:t>of</m:t>
                          </m:r>
                          <m:r>
                            <m:rPr>
                              <m:nor/>
                            </m:rPr>
                            <a:rPr lang="en-IN" i="1"/>
                            <m:t> </m:t>
                          </m:r>
                          <m:r>
                            <m:rPr>
                              <m:nor/>
                            </m:rPr>
                            <a:rPr lang="en-IN" i="1"/>
                            <m:t>Patient</m:t>
                          </m:r>
                          <m:r>
                            <m:rPr>
                              <m:nor/>
                            </m:rPr>
                            <a:rPr lang="en-IN" i="1"/>
                            <m:t> </m:t>
                          </m:r>
                          <m:r>
                            <m:rPr>
                              <m:nor/>
                            </m:rPr>
                            <a:rPr lang="en-IN" i="1"/>
                            <m:t>Falls</m:t>
                          </m:r>
                        </m:num>
                        <m:den>
                          <m:r>
                            <m:rPr>
                              <m:nor/>
                            </m:rPr>
                            <a:rPr lang="en-IN" i="1"/>
                            <m:t>Number</m:t>
                          </m:r>
                          <m:r>
                            <m:rPr>
                              <m:nor/>
                            </m:rPr>
                            <a:rPr lang="en-IN" i="1"/>
                            <m:t> </m:t>
                          </m:r>
                          <m:r>
                            <m:rPr>
                              <m:nor/>
                            </m:rPr>
                            <a:rPr lang="en-IN" i="1"/>
                            <m:t>of</m:t>
                          </m:r>
                          <m:r>
                            <m:rPr>
                              <m:nor/>
                            </m:rPr>
                            <a:rPr lang="en-IN" i="1"/>
                            <m:t> </m:t>
                          </m:r>
                          <m:r>
                            <m:rPr>
                              <m:nor/>
                            </m:rPr>
                            <a:rPr lang="en-IN" i="1"/>
                            <m:t>Patient</m:t>
                          </m:r>
                          <m:r>
                            <m:rPr>
                              <m:nor/>
                            </m:rPr>
                            <a:rPr lang="en-IN" i="1"/>
                            <m:t> </m:t>
                          </m:r>
                          <m:r>
                            <m:rPr>
                              <m:nor/>
                            </m:rPr>
                            <a:rPr lang="en-IN" i="1"/>
                            <m:t>Days</m:t>
                          </m:r>
                        </m:den>
                      </m:f>
                      <m:r>
                        <a:rPr lang="ar-AE"/>
                        <m:t>×</m:t>
                      </m:r>
                      <m:r>
                        <a:rPr lang="ar-AE"/>
                        <m:t>1000</m:t>
                      </m:r>
                    </m:oMath>
                  </m:oMathPara>
                </a14:m>
                <a:endParaRPr lang="ar-AE" b="0" dirty="0"/>
              </a:p>
              <a:p>
                <a:endParaRPr lang="en-IN" dirty="0"/>
              </a:p>
            </p:txBody>
          </p:sp>
        </mc:Choice>
        <mc:Fallback>
          <p:sp>
            <p:nvSpPr>
              <p:cNvPr id="3" name="TextBox 2">
                <a:extLst>
                  <a:ext uri="{FF2B5EF4-FFF2-40B4-BE49-F238E27FC236}">
                    <a16:creationId xmlns:a16="http://schemas.microsoft.com/office/drawing/2014/main" id="{CFB85A39-0F77-2714-5938-F0F29F76A5FC}"/>
                  </a:ext>
                </a:extLst>
              </p:cNvPr>
              <p:cNvSpPr txBox="1">
                <a:spLocks noRot="1" noChangeAspect="1" noMove="1" noResize="1" noEditPoints="1" noAdjustHandles="1" noChangeArrowheads="1" noChangeShapeType="1" noTextEdit="1"/>
              </p:cNvSpPr>
              <p:nvPr/>
            </p:nvSpPr>
            <p:spPr>
              <a:xfrm>
                <a:off x="200025" y="1471613"/>
                <a:ext cx="11801475" cy="4624536"/>
              </a:xfrm>
              <a:prstGeom prst="rect">
                <a:avLst/>
              </a:prstGeom>
              <a:blipFill>
                <a:blip r:embed="rId2"/>
                <a:stretch>
                  <a:fillRect l="-826" t="-1054"/>
                </a:stretch>
              </a:blipFill>
            </p:spPr>
            <p:txBody>
              <a:bodyPr/>
              <a:lstStyle/>
              <a:p>
                <a:r>
                  <a:rPr lang="en-IN">
                    <a:noFill/>
                  </a:rPr>
                  <a:t> </a:t>
                </a:r>
              </a:p>
            </p:txBody>
          </p:sp>
        </mc:Fallback>
      </mc:AlternateContent>
    </p:spTree>
    <p:extLst>
      <p:ext uri="{BB962C8B-B14F-4D97-AF65-F5344CB8AC3E}">
        <p14:creationId xmlns:p14="http://schemas.microsoft.com/office/powerpoint/2010/main" val="1784740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F1B844-2E66-77A1-C188-E24AE6DB358A}"/>
              </a:ext>
            </a:extLst>
          </p:cNvPr>
          <p:cNvSpPr/>
          <p:nvPr/>
        </p:nvSpPr>
        <p:spPr>
          <a:xfrm>
            <a:off x="0" y="0"/>
            <a:ext cx="12192000" cy="1200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dirty="0"/>
              <a:t>Relationship between the KPIs</a:t>
            </a:r>
            <a:endParaRPr lang="en-IN" sz="4400" dirty="0"/>
          </a:p>
        </p:txBody>
      </p:sp>
      <p:pic>
        <p:nvPicPr>
          <p:cNvPr id="4" name="Picture 3">
            <a:extLst>
              <a:ext uri="{FF2B5EF4-FFF2-40B4-BE49-F238E27FC236}">
                <a16:creationId xmlns:a16="http://schemas.microsoft.com/office/drawing/2014/main" id="{211B9E87-AEAE-775B-8EA5-A68C574BB3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0850" y="2076635"/>
            <a:ext cx="4916238" cy="4138427"/>
          </a:xfrm>
          <a:prstGeom prst="rect">
            <a:avLst/>
          </a:prstGeom>
        </p:spPr>
      </p:pic>
      <p:sp>
        <p:nvSpPr>
          <p:cNvPr id="5" name="TextBox 4">
            <a:extLst>
              <a:ext uri="{FF2B5EF4-FFF2-40B4-BE49-F238E27FC236}">
                <a16:creationId xmlns:a16="http://schemas.microsoft.com/office/drawing/2014/main" id="{5E502356-9037-742B-4A83-8FDAB0C48D8E}"/>
              </a:ext>
            </a:extLst>
          </p:cNvPr>
          <p:cNvSpPr txBox="1"/>
          <p:nvPr/>
        </p:nvSpPr>
        <p:spPr>
          <a:xfrm>
            <a:off x="7100888" y="1707303"/>
            <a:ext cx="3929063" cy="369332"/>
          </a:xfrm>
          <a:prstGeom prst="rect">
            <a:avLst/>
          </a:prstGeom>
          <a:noFill/>
        </p:spPr>
        <p:txBody>
          <a:bodyPr wrap="square" rtlCol="0">
            <a:spAutoFit/>
          </a:bodyPr>
          <a:lstStyle/>
          <a:p>
            <a:r>
              <a:rPr lang="en-GB" b="1" dirty="0"/>
              <a:t>Heatmap of Correlations between KPIs</a:t>
            </a:r>
            <a:endParaRPr lang="en-IN" b="1" dirty="0"/>
          </a:p>
        </p:txBody>
      </p:sp>
      <p:sp>
        <p:nvSpPr>
          <p:cNvPr id="6" name="TextBox 5">
            <a:extLst>
              <a:ext uri="{FF2B5EF4-FFF2-40B4-BE49-F238E27FC236}">
                <a16:creationId xmlns:a16="http://schemas.microsoft.com/office/drawing/2014/main" id="{753FC254-62A7-30FA-E93B-C0B00A8330BA}"/>
              </a:ext>
            </a:extLst>
          </p:cNvPr>
          <p:cNvSpPr txBox="1"/>
          <p:nvPr/>
        </p:nvSpPr>
        <p:spPr>
          <a:xfrm>
            <a:off x="474912" y="2265167"/>
            <a:ext cx="6325938" cy="2862322"/>
          </a:xfrm>
          <a:prstGeom prst="rect">
            <a:avLst/>
          </a:prstGeom>
          <a:noFill/>
        </p:spPr>
        <p:txBody>
          <a:bodyPr wrap="square" rtlCol="0">
            <a:spAutoFit/>
          </a:bodyPr>
          <a:lstStyle/>
          <a:p>
            <a:pPr marL="285750" indent="-285750">
              <a:buFont typeface="Wingdings" panose="05000000000000000000" pitchFamily="2" charset="2"/>
              <a:buChar char="Ø"/>
            </a:pPr>
            <a:r>
              <a:rPr lang="en-GB" dirty="0"/>
              <a:t>Bed Occupancy Rate vs Fall Rate per 1000 Patient days</a:t>
            </a:r>
            <a:br>
              <a:rPr lang="en-GB" dirty="0"/>
            </a:br>
            <a:r>
              <a:rPr lang="en-GB" dirty="0"/>
              <a:t>Correlation: 0.70 (Strong Positive Relationship)</a:t>
            </a:r>
          </a:p>
          <a:p>
            <a:endParaRPr lang="en-GB" dirty="0"/>
          </a:p>
          <a:p>
            <a:endParaRPr lang="en-GB" dirty="0"/>
          </a:p>
          <a:p>
            <a:pPr marL="285750" indent="-285750">
              <a:buFont typeface="Wingdings" panose="05000000000000000000" pitchFamily="2" charset="2"/>
              <a:buChar char="Ø"/>
            </a:pPr>
            <a:r>
              <a:rPr lang="en-GB" dirty="0"/>
              <a:t>Bed Occupancy Rate vs Staff Responsiveness</a:t>
            </a:r>
            <a:br>
              <a:rPr lang="en-GB" dirty="0"/>
            </a:br>
            <a:r>
              <a:rPr lang="en-GB" dirty="0"/>
              <a:t>Correlation: -0.37 (Moderate Negative Relationship)</a:t>
            </a:r>
          </a:p>
          <a:p>
            <a:endParaRPr lang="en-GB" dirty="0"/>
          </a:p>
          <a:p>
            <a:endParaRPr lang="en-GB" dirty="0"/>
          </a:p>
          <a:p>
            <a:pPr marL="285750" indent="-285750">
              <a:buFont typeface="Wingdings" panose="05000000000000000000" pitchFamily="2" charset="2"/>
              <a:buChar char="Ø"/>
            </a:pPr>
            <a:r>
              <a:rPr lang="en-GB" dirty="0"/>
              <a:t>Fall Rate per 1000 Patient days vs Staff Responsiveness</a:t>
            </a:r>
            <a:br>
              <a:rPr lang="en-GB" dirty="0"/>
            </a:br>
            <a:r>
              <a:rPr lang="en-GB" dirty="0"/>
              <a:t>Correlation: -0.79 (Strong Negative Relationship)</a:t>
            </a:r>
            <a:endParaRPr lang="en-IN" dirty="0"/>
          </a:p>
        </p:txBody>
      </p:sp>
    </p:spTree>
    <p:extLst>
      <p:ext uri="{BB962C8B-B14F-4D97-AF65-F5344CB8AC3E}">
        <p14:creationId xmlns:p14="http://schemas.microsoft.com/office/powerpoint/2010/main" val="3357661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E38D94-1248-C246-1618-7210BBE80CA3}"/>
              </a:ext>
            </a:extLst>
          </p:cNvPr>
          <p:cNvSpPr/>
          <p:nvPr/>
        </p:nvSpPr>
        <p:spPr>
          <a:xfrm>
            <a:off x="0" y="0"/>
            <a:ext cx="12192000" cy="1200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dirty="0"/>
              <a:t>Relationship between the KPIs</a:t>
            </a:r>
            <a:endParaRPr lang="en-IN" sz="4400" dirty="0"/>
          </a:p>
        </p:txBody>
      </p:sp>
      <p:sp>
        <p:nvSpPr>
          <p:cNvPr id="3" name="TextBox 2">
            <a:extLst>
              <a:ext uri="{FF2B5EF4-FFF2-40B4-BE49-F238E27FC236}">
                <a16:creationId xmlns:a16="http://schemas.microsoft.com/office/drawing/2014/main" id="{1512872D-3089-93F5-F162-09D4A6B7A629}"/>
              </a:ext>
            </a:extLst>
          </p:cNvPr>
          <p:cNvSpPr txBox="1"/>
          <p:nvPr/>
        </p:nvSpPr>
        <p:spPr>
          <a:xfrm>
            <a:off x="416719" y="2157413"/>
            <a:ext cx="11358562" cy="2862322"/>
          </a:xfrm>
          <a:prstGeom prst="rect">
            <a:avLst/>
          </a:prstGeom>
          <a:noFill/>
        </p:spPr>
        <p:txBody>
          <a:bodyPr wrap="square" rtlCol="0">
            <a:spAutoFit/>
          </a:bodyPr>
          <a:lstStyle/>
          <a:p>
            <a:pPr marL="457200" lvl="0" indent="-311150">
              <a:spcBef>
                <a:spcPts val="1200"/>
              </a:spcBef>
              <a:buSzPts val="1300"/>
              <a:buChar char="●"/>
            </a:pPr>
            <a:r>
              <a:rPr lang="en-GB" sz="2000" dirty="0"/>
              <a:t>Bed Occupancy Rate &amp; Fall Rate per 1,000 Patient Days – 0.70 (Strong positive correlation)</a:t>
            </a:r>
          </a:p>
          <a:p>
            <a:pPr marL="146050" lvl="0">
              <a:spcBef>
                <a:spcPts val="1200"/>
              </a:spcBef>
              <a:buSzPts val="1300"/>
            </a:pPr>
            <a:endParaRPr lang="en-GB" sz="2000" dirty="0"/>
          </a:p>
          <a:p>
            <a:pPr marL="457200" lvl="0">
              <a:spcBef>
                <a:spcPts val="1200"/>
              </a:spcBef>
            </a:pPr>
            <a:r>
              <a:rPr lang="en-GB" sz="2000" dirty="0"/>
              <a:t>As the bed occupancy rate increases, the unassisted fall rate tends to increase as well.</a:t>
            </a:r>
          </a:p>
          <a:p>
            <a:pPr marL="457200" lvl="0">
              <a:spcBef>
                <a:spcPts val="1200"/>
              </a:spcBef>
            </a:pPr>
            <a:endParaRPr lang="en-GB" sz="2000" dirty="0"/>
          </a:p>
          <a:p>
            <a:pPr marL="457200" lvl="0">
              <a:spcBef>
                <a:spcPts val="1200"/>
              </a:spcBef>
            </a:pPr>
            <a:r>
              <a:rPr lang="en-GB" sz="2000" b="1" dirty="0"/>
              <a:t>Interpretation</a:t>
            </a:r>
            <a:r>
              <a:rPr lang="en-GB" sz="2000" dirty="0"/>
              <a:t>: Higher bed occupancy (more patients in the hospital) might lead to increased pressure on hospital staff,  which could result in a higher fall rate. This suggests a possible need for more efficient staffing or patient monitoring as occupancy increases.</a:t>
            </a:r>
          </a:p>
        </p:txBody>
      </p:sp>
    </p:spTree>
    <p:extLst>
      <p:ext uri="{BB962C8B-B14F-4D97-AF65-F5344CB8AC3E}">
        <p14:creationId xmlns:p14="http://schemas.microsoft.com/office/powerpoint/2010/main" val="1884099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7B0A9E-5969-7537-2989-21E394E935A3}"/>
              </a:ext>
            </a:extLst>
          </p:cNvPr>
          <p:cNvSpPr/>
          <p:nvPr/>
        </p:nvSpPr>
        <p:spPr>
          <a:xfrm>
            <a:off x="0" y="0"/>
            <a:ext cx="12192000" cy="1200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dirty="0"/>
              <a:t>Relationship between the KPIs</a:t>
            </a:r>
            <a:endParaRPr lang="en-IN" sz="4400" dirty="0"/>
          </a:p>
        </p:txBody>
      </p:sp>
      <p:sp>
        <p:nvSpPr>
          <p:cNvPr id="3" name="TextBox 2">
            <a:extLst>
              <a:ext uri="{FF2B5EF4-FFF2-40B4-BE49-F238E27FC236}">
                <a16:creationId xmlns:a16="http://schemas.microsoft.com/office/drawing/2014/main" id="{B76FEBC4-E63C-FEBF-6609-247F1740CA70}"/>
              </a:ext>
            </a:extLst>
          </p:cNvPr>
          <p:cNvSpPr txBox="1"/>
          <p:nvPr/>
        </p:nvSpPr>
        <p:spPr>
          <a:xfrm>
            <a:off x="400050" y="2085975"/>
            <a:ext cx="11044238" cy="3139321"/>
          </a:xfrm>
          <a:prstGeom prst="rect">
            <a:avLst/>
          </a:prstGeom>
          <a:noFill/>
        </p:spPr>
        <p:txBody>
          <a:bodyPr wrap="square" rtlCol="0">
            <a:spAutoFit/>
          </a:bodyPr>
          <a:lstStyle/>
          <a:p>
            <a:pPr marL="457200" lvl="0" indent="-311150">
              <a:spcBef>
                <a:spcPts val="1200"/>
              </a:spcBef>
              <a:buSzPts val="1300"/>
              <a:buChar char="●"/>
            </a:pPr>
            <a:r>
              <a:rPr lang="en-GB" sz="2000" dirty="0"/>
              <a:t>Bed Occupancy Rate &amp; Staff Responsiveness Score – (-0.37 ) (Moderate negative correlation)</a:t>
            </a:r>
          </a:p>
          <a:p>
            <a:pPr marL="146050" lvl="0">
              <a:spcBef>
                <a:spcPts val="1200"/>
              </a:spcBef>
              <a:buSzPts val="1300"/>
            </a:pPr>
            <a:endParaRPr lang="en-GB" sz="2000" dirty="0"/>
          </a:p>
          <a:p>
            <a:pPr marL="457200" lvl="0">
              <a:spcBef>
                <a:spcPts val="1200"/>
              </a:spcBef>
            </a:pPr>
            <a:r>
              <a:rPr lang="en-GB" sz="2000" dirty="0"/>
              <a:t>As bed occupancy increases, staff responsiveness tends to decrease slightly.</a:t>
            </a:r>
          </a:p>
          <a:p>
            <a:pPr marL="457200" lvl="0">
              <a:spcBef>
                <a:spcPts val="1200"/>
              </a:spcBef>
            </a:pPr>
            <a:endParaRPr lang="en-GB" sz="2000" dirty="0"/>
          </a:p>
          <a:p>
            <a:pPr marL="457200" lvl="0">
              <a:spcBef>
                <a:spcPts val="1200"/>
              </a:spcBef>
            </a:pPr>
            <a:r>
              <a:rPr lang="en-GB" sz="2000" b="1" dirty="0"/>
              <a:t>Interpretation</a:t>
            </a:r>
            <a:r>
              <a:rPr lang="en-GB" sz="2000" dirty="0"/>
              <a:t>: Higher occupancy may cause more strain on hospital staff, potentially affecting their ability to be as responsive to patient needs. This could point to a need for better resource management or training in high-demand situations.</a:t>
            </a:r>
          </a:p>
          <a:p>
            <a:endParaRPr lang="en-IN" dirty="0"/>
          </a:p>
        </p:txBody>
      </p:sp>
    </p:spTree>
    <p:extLst>
      <p:ext uri="{BB962C8B-B14F-4D97-AF65-F5344CB8AC3E}">
        <p14:creationId xmlns:p14="http://schemas.microsoft.com/office/powerpoint/2010/main" val="3523107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58BB86-ACCE-8376-79E9-8A666F7F8F27}"/>
              </a:ext>
            </a:extLst>
          </p:cNvPr>
          <p:cNvSpPr/>
          <p:nvPr/>
        </p:nvSpPr>
        <p:spPr>
          <a:xfrm>
            <a:off x="0" y="0"/>
            <a:ext cx="12192000" cy="1200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dirty="0"/>
              <a:t>Relationship between the KPIs</a:t>
            </a:r>
            <a:endParaRPr lang="en-IN" sz="4400" dirty="0"/>
          </a:p>
        </p:txBody>
      </p:sp>
      <p:sp>
        <p:nvSpPr>
          <p:cNvPr id="3" name="TextBox 2">
            <a:extLst>
              <a:ext uri="{FF2B5EF4-FFF2-40B4-BE49-F238E27FC236}">
                <a16:creationId xmlns:a16="http://schemas.microsoft.com/office/drawing/2014/main" id="{BFCF84E0-8C4A-1E24-A36F-FC701B9C836B}"/>
              </a:ext>
            </a:extLst>
          </p:cNvPr>
          <p:cNvSpPr txBox="1"/>
          <p:nvPr/>
        </p:nvSpPr>
        <p:spPr>
          <a:xfrm>
            <a:off x="502443" y="2114551"/>
            <a:ext cx="11187113" cy="2554545"/>
          </a:xfrm>
          <a:prstGeom prst="rect">
            <a:avLst/>
          </a:prstGeom>
          <a:noFill/>
        </p:spPr>
        <p:txBody>
          <a:bodyPr wrap="square" rtlCol="0">
            <a:spAutoFit/>
          </a:bodyPr>
          <a:lstStyle/>
          <a:p>
            <a:pPr marL="457200" lvl="0" indent="-311150">
              <a:spcBef>
                <a:spcPts val="1200"/>
              </a:spcBef>
              <a:buSzPts val="1300"/>
              <a:buChar char="●"/>
            </a:pPr>
            <a:r>
              <a:rPr lang="en-GB" sz="2000" dirty="0"/>
              <a:t>Fall Rate per 1,000 Patient Days &amp; Staff Responsiveness Score – (-0.79) (Strong negative correlation)</a:t>
            </a:r>
          </a:p>
          <a:p>
            <a:pPr marL="146050" lvl="0">
              <a:spcBef>
                <a:spcPts val="1200"/>
              </a:spcBef>
              <a:buSzPts val="1300"/>
            </a:pPr>
            <a:endParaRPr lang="en-GB" sz="2000" dirty="0"/>
          </a:p>
          <a:p>
            <a:pPr marL="457200" lvl="0">
              <a:spcBef>
                <a:spcPts val="1200"/>
              </a:spcBef>
            </a:pPr>
            <a:r>
              <a:rPr lang="en-GB" sz="2000" dirty="0"/>
              <a:t>As staff responsiveness improves (higher score), the fall rate tends to decrease.</a:t>
            </a:r>
          </a:p>
          <a:p>
            <a:pPr marL="457200" lvl="0">
              <a:spcBef>
                <a:spcPts val="1200"/>
              </a:spcBef>
            </a:pPr>
            <a:endParaRPr lang="en-GB" sz="2000" dirty="0"/>
          </a:p>
          <a:p>
            <a:pPr marL="457200" lvl="0">
              <a:spcBef>
                <a:spcPts val="1200"/>
              </a:spcBef>
            </a:pPr>
            <a:r>
              <a:rPr lang="en-GB" sz="2000" b="1" dirty="0"/>
              <a:t>Interpretation</a:t>
            </a:r>
            <a:r>
              <a:rPr lang="en-GB" sz="2000" dirty="0"/>
              <a:t>: Better staff responsiveness is strongly linked to fewer falls, which makes sense—responsive staff are likely to be more proactive in ensuring patient safety and preventing falls.</a:t>
            </a:r>
          </a:p>
        </p:txBody>
      </p:sp>
    </p:spTree>
    <p:extLst>
      <p:ext uri="{BB962C8B-B14F-4D97-AF65-F5344CB8AC3E}">
        <p14:creationId xmlns:p14="http://schemas.microsoft.com/office/powerpoint/2010/main" val="3951389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B0F518-19D9-0218-466D-17F9F0D86313}"/>
              </a:ext>
            </a:extLst>
          </p:cNvPr>
          <p:cNvSpPr/>
          <p:nvPr/>
        </p:nvSpPr>
        <p:spPr>
          <a:xfrm>
            <a:off x="0" y="0"/>
            <a:ext cx="12192000" cy="1200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dirty="0"/>
              <a:t>Relationship between the KPIs</a:t>
            </a:r>
            <a:endParaRPr lang="en-IN" sz="4400" dirty="0"/>
          </a:p>
        </p:txBody>
      </p:sp>
      <p:sp>
        <p:nvSpPr>
          <p:cNvPr id="3" name="TextBox 2">
            <a:extLst>
              <a:ext uri="{FF2B5EF4-FFF2-40B4-BE49-F238E27FC236}">
                <a16:creationId xmlns:a16="http://schemas.microsoft.com/office/drawing/2014/main" id="{4ECD0ED4-3B30-CFBE-9871-495AA187EA7E}"/>
              </a:ext>
            </a:extLst>
          </p:cNvPr>
          <p:cNvSpPr txBox="1"/>
          <p:nvPr/>
        </p:nvSpPr>
        <p:spPr>
          <a:xfrm>
            <a:off x="685800" y="2100561"/>
            <a:ext cx="10972800" cy="2646878"/>
          </a:xfrm>
          <a:prstGeom prst="rect">
            <a:avLst/>
          </a:prstGeom>
          <a:noFill/>
        </p:spPr>
        <p:txBody>
          <a:bodyPr wrap="square" rtlCol="0">
            <a:spAutoFit/>
          </a:bodyPr>
          <a:lstStyle/>
          <a:p>
            <a:pPr lvl="0">
              <a:spcBef>
                <a:spcPts val="1200"/>
              </a:spcBef>
            </a:pPr>
            <a:r>
              <a:rPr lang="en-GB" sz="2400" b="1" dirty="0"/>
              <a:t>Summary of Relationships between the KPIs:</a:t>
            </a:r>
          </a:p>
          <a:p>
            <a:pPr lvl="0">
              <a:spcBef>
                <a:spcPts val="1200"/>
              </a:spcBef>
            </a:pPr>
            <a:endParaRPr lang="en-GB" sz="2400" b="1" dirty="0"/>
          </a:p>
          <a:p>
            <a:pPr lvl="0">
              <a:spcBef>
                <a:spcPts val="1200"/>
              </a:spcBef>
            </a:pPr>
            <a:r>
              <a:rPr lang="en-GB" sz="2000" dirty="0"/>
              <a:t>Higher bed occupancy is associated with higher fall rates and slightly lower staff responsiveness. Hospitals may need to ensure that higher occupancy does not overwhelm staff, potentially compromising patient safety and care. Better staff responsiveness is strongly associated with fewer falls, indicating that when staff are more responsive, patient safety improves, and falls are reduced.</a:t>
            </a:r>
          </a:p>
          <a:p>
            <a:endParaRPr lang="en-IN" dirty="0"/>
          </a:p>
        </p:txBody>
      </p:sp>
    </p:spTree>
    <p:extLst>
      <p:ext uri="{BB962C8B-B14F-4D97-AF65-F5344CB8AC3E}">
        <p14:creationId xmlns:p14="http://schemas.microsoft.com/office/powerpoint/2010/main" val="1109963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8E7D4C-EB06-576D-4B6D-0B7E4CBE4AAD}"/>
              </a:ext>
            </a:extLst>
          </p:cNvPr>
          <p:cNvPicPr>
            <a:picLocks noChangeAspect="1"/>
          </p:cNvPicPr>
          <p:nvPr/>
        </p:nvPicPr>
        <p:blipFill>
          <a:blip r:embed="rId2"/>
          <a:stretch>
            <a:fillRect/>
          </a:stretch>
        </p:blipFill>
        <p:spPr>
          <a:xfrm>
            <a:off x="410305" y="289531"/>
            <a:ext cx="11005408" cy="5468331"/>
          </a:xfrm>
          <a:prstGeom prst="rect">
            <a:avLst/>
          </a:prstGeom>
        </p:spPr>
      </p:pic>
      <p:sp>
        <p:nvSpPr>
          <p:cNvPr id="6" name="TextBox 5">
            <a:extLst>
              <a:ext uri="{FF2B5EF4-FFF2-40B4-BE49-F238E27FC236}">
                <a16:creationId xmlns:a16="http://schemas.microsoft.com/office/drawing/2014/main" id="{BBC28549-D06A-08F5-D2A1-DD635F75E556}"/>
              </a:ext>
            </a:extLst>
          </p:cNvPr>
          <p:cNvSpPr txBox="1"/>
          <p:nvPr/>
        </p:nvSpPr>
        <p:spPr>
          <a:xfrm>
            <a:off x="542925" y="5915025"/>
            <a:ext cx="10872788" cy="923330"/>
          </a:xfrm>
          <a:prstGeom prst="rect">
            <a:avLst/>
          </a:prstGeom>
          <a:noFill/>
        </p:spPr>
        <p:txBody>
          <a:bodyPr wrap="square" rtlCol="0">
            <a:spAutoFit/>
          </a:bodyPr>
          <a:lstStyle/>
          <a:p>
            <a:pPr marL="285750" indent="-285750">
              <a:buFont typeface="Wingdings" panose="05000000000000000000" pitchFamily="2" charset="2"/>
              <a:buChar char="Ø"/>
            </a:pPr>
            <a:r>
              <a:rPr lang="en-GB" dirty="0"/>
              <a:t>Bed occupancy remained consistently above 94%, indicating high hospital capacity utilization.</a:t>
            </a:r>
          </a:p>
          <a:p>
            <a:pPr marL="285750" indent="-285750">
              <a:buFont typeface="Wingdings" panose="05000000000000000000" pitchFamily="2" charset="2"/>
              <a:buChar char="Ø"/>
            </a:pPr>
            <a:r>
              <a:rPr lang="en-GB" dirty="0"/>
              <a:t>From 2021 onwards, occupancy stabilized and remained consistently high, reflecting strong patient demand.</a:t>
            </a:r>
          </a:p>
          <a:p>
            <a:endParaRPr lang="en-IN" dirty="0"/>
          </a:p>
        </p:txBody>
      </p:sp>
    </p:spTree>
    <p:extLst>
      <p:ext uri="{BB962C8B-B14F-4D97-AF65-F5344CB8AC3E}">
        <p14:creationId xmlns:p14="http://schemas.microsoft.com/office/powerpoint/2010/main" val="2191571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B1241B-D2EA-2C39-4E59-A60C090CF4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501" y="0"/>
            <a:ext cx="11488492" cy="5678429"/>
          </a:xfrm>
          <a:prstGeom prst="rect">
            <a:avLst/>
          </a:prstGeom>
        </p:spPr>
      </p:pic>
      <p:sp>
        <p:nvSpPr>
          <p:cNvPr id="4" name="TextBox 3">
            <a:extLst>
              <a:ext uri="{FF2B5EF4-FFF2-40B4-BE49-F238E27FC236}">
                <a16:creationId xmlns:a16="http://schemas.microsoft.com/office/drawing/2014/main" id="{0A6AEF15-82EC-ECEE-F8F6-3C42B49B8508}"/>
              </a:ext>
            </a:extLst>
          </p:cNvPr>
          <p:cNvSpPr txBox="1"/>
          <p:nvPr/>
        </p:nvSpPr>
        <p:spPr>
          <a:xfrm>
            <a:off x="517007" y="5657671"/>
            <a:ext cx="11298756" cy="1200329"/>
          </a:xfrm>
          <a:prstGeom prst="rect">
            <a:avLst/>
          </a:prstGeom>
          <a:noFill/>
        </p:spPr>
        <p:txBody>
          <a:bodyPr wrap="square" rtlCol="0">
            <a:spAutoFit/>
          </a:bodyPr>
          <a:lstStyle/>
          <a:p>
            <a:pPr marL="285750" indent="-285750">
              <a:buFont typeface="Wingdings" panose="05000000000000000000" pitchFamily="2" charset="2"/>
              <a:buChar char="Ø"/>
            </a:pPr>
            <a:r>
              <a:rPr lang="en-GB" dirty="0"/>
              <a:t>Bed occupancy increased from 94.6% in 2020 to 97.2% in 2023, showing growing hospital utilization.</a:t>
            </a:r>
          </a:p>
          <a:p>
            <a:pPr marL="285750" indent="-285750">
              <a:buFont typeface="Wingdings" panose="05000000000000000000" pitchFamily="2" charset="2"/>
              <a:buChar char="Ø"/>
            </a:pPr>
            <a:r>
              <a:rPr lang="en-GB" dirty="0"/>
              <a:t>2023 recorded the highest occupancy, indicating peak patient demand.</a:t>
            </a:r>
          </a:p>
          <a:p>
            <a:pPr marL="285750" indent="-285750">
              <a:buFont typeface="Wingdings" panose="05000000000000000000" pitchFamily="2" charset="2"/>
              <a:buChar char="Ø"/>
            </a:pPr>
            <a:r>
              <a:rPr lang="en-GB" dirty="0"/>
              <a:t>Occupancy slightly declined in 2024 (96.8%) but remained consistently high.</a:t>
            </a:r>
          </a:p>
          <a:p>
            <a:endParaRPr lang="en-IN" dirty="0"/>
          </a:p>
        </p:txBody>
      </p:sp>
    </p:spTree>
    <p:extLst>
      <p:ext uri="{BB962C8B-B14F-4D97-AF65-F5344CB8AC3E}">
        <p14:creationId xmlns:p14="http://schemas.microsoft.com/office/powerpoint/2010/main" val="4230131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7A19B1-3CCD-6ADD-03D7-224D09358820}"/>
              </a:ext>
            </a:extLst>
          </p:cNvPr>
          <p:cNvPicPr>
            <a:picLocks noChangeAspect="1"/>
          </p:cNvPicPr>
          <p:nvPr/>
        </p:nvPicPr>
        <p:blipFill>
          <a:blip r:embed="rId2"/>
          <a:stretch>
            <a:fillRect/>
          </a:stretch>
        </p:blipFill>
        <p:spPr>
          <a:xfrm>
            <a:off x="759086" y="123826"/>
            <a:ext cx="10599477" cy="5233988"/>
          </a:xfrm>
          <a:prstGeom prst="rect">
            <a:avLst/>
          </a:prstGeom>
        </p:spPr>
      </p:pic>
      <p:sp>
        <p:nvSpPr>
          <p:cNvPr id="4" name="TextBox 3">
            <a:extLst>
              <a:ext uri="{FF2B5EF4-FFF2-40B4-BE49-F238E27FC236}">
                <a16:creationId xmlns:a16="http://schemas.microsoft.com/office/drawing/2014/main" id="{A405A710-2185-00BC-22E1-47399F07BD16}"/>
              </a:ext>
            </a:extLst>
          </p:cNvPr>
          <p:cNvSpPr txBox="1"/>
          <p:nvPr/>
        </p:nvSpPr>
        <p:spPr>
          <a:xfrm>
            <a:off x="308105" y="5533845"/>
            <a:ext cx="11501437" cy="1200329"/>
          </a:xfrm>
          <a:prstGeom prst="rect">
            <a:avLst/>
          </a:prstGeom>
          <a:noFill/>
        </p:spPr>
        <p:txBody>
          <a:bodyPr wrap="square" rtlCol="0">
            <a:spAutoFit/>
          </a:bodyPr>
          <a:lstStyle/>
          <a:p>
            <a:pPr marL="285750" indent="-285750">
              <a:buFont typeface="Wingdings" panose="05000000000000000000" pitchFamily="2" charset="2"/>
              <a:buChar char="Ø"/>
            </a:pPr>
            <a:r>
              <a:rPr lang="en-GB" dirty="0"/>
              <a:t>The fall rate fluctuates between ~2.0 and 3.4 per 1,000 patient days, indicating variability in patient safety outcomes.</a:t>
            </a:r>
          </a:p>
          <a:p>
            <a:pPr marL="285750" indent="-285750">
              <a:buFont typeface="Wingdings" panose="05000000000000000000" pitchFamily="2" charset="2"/>
              <a:buChar char="Ø"/>
            </a:pPr>
            <a:r>
              <a:rPr lang="en-GB" dirty="0"/>
              <a:t>Several spikes are observed between 2021 and 2023, suggesting periods of increased fall risk.</a:t>
            </a:r>
          </a:p>
          <a:p>
            <a:pPr marL="285750" indent="-285750">
              <a:buFont typeface="Wingdings" panose="05000000000000000000" pitchFamily="2" charset="2"/>
              <a:buChar char="Ø"/>
            </a:pPr>
            <a:r>
              <a:rPr lang="en-GB" dirty="0"/>
              <a:t>A noticeable decline appears in early 2024, indicating potential improvements in fall prevention measures.</a:t>
            </a:r>
          </a:p>
          <a:p>
            <a:endParaRPr lang="en-IN" dirty="0"/>
          </a:p>
        </p:txBody>
      </p:sp>
    </p:spTree>
    <p:extLst>
      <p:ext uri="{BB962C8B-B14F-4D97-AF65-F5344CB8AC3E}">
        <p14:creationId xmlns:p14="http://schemas.microsoft.com/office/powerpoint/2010/main" val="827320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A76404-97B9-FBAA-5FDC-49F91A0E74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2186" y="136584"/>
            <a:ext cx="10652114" cy="5236069"/>
          </a:xfrm>
          <a:prstGeom prst="rect">
            <a:avLst/>
          </a:prstGeom>
        </p:spPr>
      </p:pic>
      <p:sp>
        <p:nvSpPr>
          <p:cNvPr id="4" name="TextBox 3">
            <a:extLst>
              <a:ext uri="{FF2B5EF4-FFF2-40B4-BE49-F238E27FC236}">
                <a16:creationId xmlns:a16="http://schemas.microsoft.com/office/drawing/2014/main" id="{77CE126E-D91B-0013-1388-A52FE22889BF}"/>
              </a:ext>
            </a:extLst>
          </p:cNvPr>
          <p:cNvSpPr txBox="1"/>
          <p:nvPr/>
        </p:nvSpPr>
        <p:spPr>
          <a:xfrm>
            <a:off x="610399" y="5521087"/>
            <a:ext cx="11215687" cy="1200329"/>
          </a:xfrm>
          <a:prstGeom prst="rect">
            <a:avLst/>
          </a:prstGeom>
          <a:noFill/>
        </p:spPr>
        <p:txBody>
          <a:bodyPr wrap="square" rtlCol="0">
            <a:spAutoFit/>
          </a:bodyPr>
          <a:lstStyle/>
          <a:p>
            <a:pPr marL="285750" indent="-285750">
              <a:buFont typeface="Wingdings" panose="05000000000000000000" pitchFamily="2" charset="2"/>
              <a:buChar char="Ø"/>
            </a:pPr>
            <a:r>
              <a:rPr lang="en-GB" dirty="0"/>
              <a:t>The fall rate increased from 2.2 in 2020 to 2.8 in 2022–2023, indicating a rise in patient fall incidents.</a:t>
            </a:r>
          </a:p>
          <a:p>
            <a:pPr marL="285750" indent="-285750">
              <a:buFont typeface="Wingdings" panose="05000000000000000000" pitchFamily="2" charset="2"/>
              <a:buChar char="Ø"/>
            </a:pPr>
            <a:r>
              <a:rPr lang="en-GB" dirty="0"/>
              <a:t>2022 and 2023 recorded the highest fall rates, highlighting potential safety concerns during these years.</a:t>
            </a:r>
          </a:p>
          <a:p>
            <a:pPr marL="285750" indent="-285750">
              <a:buFont typeface="Wingdings" panose="05000000000000000000" pitchFamily="2" charset="2"/>
              <a:buChar char="Ø"/>
            </a:pPr>
            <a:r>
              <a:rPr lang="en-GB" dirty="0"/>
              <a:t>The fall rate decreased slightly in 2024 (2.6), suggesting possible improvements in patient safety initiatives.</a:t>
            </a:r>
          </a:p>
          <a:p>
            <a:endParaRPr lang="en-IN" dirty="0"/>
          </a:p>
        </p:txBody>
      </p:sp>
    </p:spTree>
    <p:extLst>
      <p:ext uri="{BB962C8B-B14F-4D97-AF65-F5344CB8AC3E}">
        <p14:creationId xmlns:p14="http://schemas.microsoft.com/office/powerpoint/2010/main" val="1348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A6D15F-03DD-909E-623F-868487EE8642}"/>
              </a:ext>
            </a:extLst>
          </p:cNvPr>
          <p:cNvPicPr>
            <a:picLocks noChangeAspect="1"/>
          </p:cNvPicPr>
          <p:nvPr/>
        </p:nvPicPr>
        <p:blipFill>
          <a:blip r:embed="rId2"/>
          <a:stretch>
            <a:fillRect/>
          </a:stretch>
        </p:blipFill>
        <p:spPr>
          <a:xfrm>
            <a:off x="271463" y="200024"/>
            <a:ext cx="11244261" cy="4972051"/>
          </a:xfrm>
          <a:prstGeom prst="rect">
            <a:avLst/>
          </a:prstGeom>
        </p:spPr>
      </p:pic>
      <p:sp>
        <p:nvSpPr>
          <p:cNvPr id="4" name="TextBox 3">
            <a:extLst>
              <a:ext uri="{FF2B5EF4-FFF2-40B4-BE49-F238E27FC236}">
                <a16:creationId xmlns:a16="http://schemas.microsoft.com/office/drawing/2014/main" id="{5D2AEE57-4AB0-FE7B-6A52-091D8C867E09}"/>
              </a:ext>
            </a:extLst>
          </p:cNvPr>
          <p:cNvSpPr txBox="1"/>
          <p:nvPr/>
        </p:nvSpPr>
        <p:spPr>
          <a:xfrm>
            <a:off x="457199" y="5400675"/>
            <a:ext cx="11415713" cy="1200329"/>
          </a:xfrm>
          <a:prstGeom prst="rect">
            <a:avLst/>
          </a:prstGeom>
          <a:noFill/>
        </p:spPr>
        <p:txBody>
          <a:bodyPr wrap="square" rtlCol="0">
            <a:spAutoFit/>
          </a:bodyPr>
          <a:lstStyle/>
          <a:p>
            <a:pPr marL="285750" indent="-285750">
              <a:buFont typeface="Wingdings" panose="05000000000000000000" pitchFamily="2" charset="2"/>
              <a:buChar char="Ø"/>
            </a:pPr>
            <a:r>
              <a:rPr lang="en-GB" dirty="0"/>
              <a:t>Staff responsiveness scores fluctuate between ~55 and 73, indicating variability in patient experience over time.</a:t>
            </a:r>
          </a:p>
          <a:p>
            <a:pPr marL="285750" indent="-285750">
              <a:buFont typeface="Wingdings" panose="05000000000000000000" pitchFamily="2" charset="2"/>
              <a:buChar char="Ø"/>
            </a:pPr>
            <a:r>
              <a:rPr lang="en-GB" dirty="0"/>
              <a:t>A noticeable decline occurs between 2021 and 2022, suggesting potential operational challenges during that period.</a:t>
            </a:r>
          </a:p>
          <a:p>
            <a:pPr marL="285750" indent="-285750">
              <a:buFont typeface="Wingdings" panose="05000000000000000000" pitchFamily="2" charset="2"/>
              <a:buChar char="Ø"/>
            </a:pPr>
            <a:r>
              <a:rPr lang="en-GB" dirty="0"/>
              <a:t>Scores show gradual improvement after 2023, indicating better staff responsiveness and service quality.</a:t>
            </a:r>
          </a:p>
          <a:p>
            <a:endParaRPr lang="en-IN" dirty="0"/>
          </a:p>
        </p:txBody>
      </p:sp>
    </p:spTree>
    <p:extLst>
      <p:ext uri="{BB962C8B-B14F-4D97-AF65-F5344CB8AC3E}">
        <p14:creationId xmlns:p14="http://schemas.microsoft.com/office/powerpoint/2010/main" val="405455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A50B04-BC98-75B0-A97D-5ECF0C7E52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213" y="-2"/>
            <a:ext cx="11229975" cy="5586415"/>
          </a:xfrm>
          <a:prstGeom prst="rect">
            <a:avLst/>
          </a:prstGeom>
        </p:spPr>
      </p:pic>
      <p:sp>
        <p:nvSpPr>
          <p:cNvPr id="4" name="TextBox 3">
            <a:extLst>
              <a:ext uri="{FF2B5EF4-FFF2-40B4-BE49-F238E27FC236}">
                <a16:creationId xmlns:a16="http://schemas.microsoft.com/office/drawing/2014/main" id="{A1A22B9E-35A6-8CFC-8C31-381F83F06A81}"/>
              </a:ext>
            </a:extLst>
          </p:cNvPr>
          <p:cNvSpPr txBox="1"/>
          <p:nvPr/>
        </p:nvSpPr>
        <p:spPr>
          <a:xfrm>
            <a:off x="714375" y="5572125"/>
            <a:ext cx="11229975" cy="1477328"/>
          </a:xfrm>
          <a:prstGeom prst="rect">
            <a:avLst/>
          </a:prstGeom>
          <a:noFill/>
        </p:spPr>
        <p:txBody>
          <a:bodyPr wrap="square" rtlCol="0">
            <a:spAutoFit/>
          </a:bodyPr>
          <a:lstStyle/>
          <a:p>
            <a:pPr marL="285750" indent="-285750">
              <a:buFont typeface="Wingdings" panose="05000000000000000000" pitchFamily="2" charset="2"/>
              <a:buChar char="Ø"/>
            </a:pPr>
            <a:r>
              <a:rPr lang="en-GB" dirty="0"/>
              <a:t>The average responsiveness score declined from 65.3 in 2020 to 60.6 in 2022, indicating reduced patient satisfaction during this period.</a:t>
            </a:r>
          </a:p>
          <a:p>
            <a:pPr marL="285750" indent="-285750">
              <a:buFont typeface="Wingdings" panose="05000000000000000000" pitchFamily="2" charset="2"/>
              <a:buChar char="Ø"/>
            </a:pPr>
            <a:r>
              <a:rPr lang="en-GB" dirty="0"/>
              <a:t>2022 recorded the lowest score, highlighting potential challenges in staff responsiveness.</a:t>
            </a:r>
          </a:p>
          <a:p>
            <a:pPr marL="285750" indent="-285750">
              <a:buFont typeface="Wingdings" panose="05000000000000000000" pitchFamily="2" charset="2"/>
              <a:buChar char="Ø"/>
            </a:pPr>
            <a:r>
              <a:rPr lang="en-GB" dirty="0"/>
              <a:t>The score improved again in 2023 and 2024, suggesting recovery in service quality.</a:t>
            </a:r>
          </a:p>
          <a:p>
            <a:endParaRPr lang="en-IN" dirty="0"/>
          </a:p>
        </p:txBody>
      </p:sp>
    </p:spTree>
    <p:extLst>
      <p:ext uri="{BB962C8B-B14F-4D97-AF65-F5344CB8AC3E}">
        <p14:creationId xmlns:p14="http://schemas.microsoft.com/office/powerpoint/2010/main" val="2264256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6C2106-560A-86B6-0077-4843EF09EC08}"/>
              </a:ext>
            </a:extLst>
          </p:cNvPr>
          <p:cNvPicPr>
            <a:picLocks noChangeAspect="1"/>
          </p:cNvPicPr>
          <p:nvPr/>
        </p:nvPicPr>
        <p:blipFill>
          <a:blip r:embed="rId2"/>
          <a:stretch>
            <a:fillRect/>
          </a:stretch>
        </p:blipFill>
        <p:spPr>
          <a:xfrm>
            <a:off x="1" y="0"/>
            <a:ext cx="12191999" cy="6858000"/>
          </a:xfrm>
          <a:prstGeom prst="rect">
            <a:avLst/>
          </a:prstGeom>
        </p:spPr>
      </p:pic>
    </p:spTree>
    <p:extLst>
      <p:ext uri="{BB962C8B-B14F-4D97-AF65-F5344CB8AC3E}">
        <p14:creationId xmlns:p14="http://schemas.microsoft.com/office/powerpoint/2010/main" val="3339254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AF1BAE-6D66-5B5B-6A51-EE7A137FFF13}"/>
              </a:ext>
            </a:extLst>
          </p:cNvPr>
          <p:cNvSpPr/>
          <p:nvPr/>
        </p:nvSpPr>
        <p:spPr>
          <a:xfrm>
            <a:off x="0" y="0"/>
            <a:ext cx="12192000" cy="1200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dirty="0"/>
              <a:t>Bed Occupancy Benchmark Comparison</a:t>
            </a:r>
          </a:p>
        </p:txBody>
      </p:sp>
      <p:sp>
        <p:nvSpPr>
          <p:cNvPr id="3" name="TextBox 2">
            <a:extLst>
              <a:ext uri="{FF2B5EF4-FFF2-40B4-BE49-F238E27FC236}">
                <a16:creationId xmlns:a16="http://schemas.microsoft.com/office/drawing/2014/main" id="{93E954B0-E8B9-80C2-F83E-561A85D2EEE4}"/>
              </a:ext>
            </a:extLst>
          </p:cNvPr>
          <p:cNvSpPr txBox="1"/>
          <p:nvPr/>
        </p:nvSpPr>
        <p:spPr>
          <a:xfrm>
            <a:off x="514350" y="1700213"/>
            <a:ext cx="11301413" cy="3785652"/>
          </a:xfrm>
          <a:prstGeom prst="rect">
            <a:avLst/>
          </a:prstGeom>
          <a:noFill/>
        </p:spPr>
        <p:txBody>
          <a:bodyPr wrap="square" rtlCol="0">
            <a:spAutoFit/>
          </a:bodyPr>
          <a:lstStyle/>
          <a:p>
            <a:r>
              <a:rPr lang="en-GB" sz="2400" b="1" dirty="0"/>
              <a:t>Comparison:</a:t>
            </a:r>
          </a:p>
          <a:p>
            <a:endParaRPr lang="en-GB" sz="2400" b="1" dirty="0"/>
          </a:p>
          <a:p>
            <a:r>
              <a:rPr lang="en-GB" dirty="0"/>
              <a:t>Lowell General Hospital: 96.2%</a:t>
            </a:r>
            <a:br>
              <a:rPr lang="en-GB" dirty="0"/>
            </a:br>
            <a:r>
              <a:rPr lang="en-GB" dirty="0"/>
              <a:t>U.S. Hospital Average: ~66%</a:t>
            </a:r>
          </a:p>
          <a:p>
            <a:endParaRPr lang="en-GB" dirty="0"/>
          </a:p>
          <a:p>
            <a:r>
              <a:rPr lang="en-GB" sz="2400" b="1" dirty="0"/>
              <a:t>Insights:</a:t>
            </a:r>
          </a:p>
          <a:p>
            <a:endParaRPr lang="en-GB" sz="2400" b="1" dirty="0"/>
          </a:p>
          <a:p>
            <a:pPr marL="285750" indent="-285750">
              <a:buFont typeface="Wingdings" panose="05000000000000000000" pitchFamily="2" charset="2"/>
              <a:buChar char="Ø"/>
            </a:pPr>
            <a:r>
              <a:rPr lang="en-GB" dirty="0"/>
              <a:t>Lowell General Hospital operates at a much higher occupancy level than the national average.</a:t>
            </a:r>
          </a:p>
          <a:p>
            <a:pPr marL="285750" indent="-285750">
              <a:buFont typeface="Wingdings" panose="05000000000000000000" pitchFamily="2" charset="2"/>
              <a:buChar char="Ø"/>
            </a:pPr>
            <a:r>
              <a:rPr lang="en-GB" dirty="0"/>
              <a:t>This suggests strong patient demand and efficient bed utilization.</a:t>
            </a:r>
          </a:p>
          <a:p>
            <a:pPr marL="285750" indent="-285750">
              <a:buFont typeface="Wingdings" panose="05000000000000000000" pitchFamily="2" charset="2"/>
              <a:buChar char="Ø"/>
            </a:pPr>
            <a:r>
              <a:rPr lang="en-GB" dirty="0"/>
              <a:t>However, occupancy levels above 85% may create operational pressure, potentially impacting staff workload and patient satisfaction.</a:t>
            </a:r>
          </a:p>
          <a:p>
            <a:endParaRPr lang="en-IN" dirty="0"/>
          </a:p>
        </p:txBody>
      </p:sp>
    </p:spTree>
    <p:extLst>
      <p:ext uri="{BB962C8B-B14F-4D97-AF65-F5344CB8AC3E}">
        <p14:creationId xmlns:p14="http://schemas.microsoft.com/office/powerpoint/2010/main" val="2347194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E889AC-736F-94B5-5B14-0EE3DAF27287}"/>
              </a:ext>
            </a:extLst>
          </p:cNvPr>
          <p:cNvSpPr/>
          <p:nvPr/>
        </p:nvSpPr>
        <p:spPr>
          <a:xfrm>
            <a:off x="0" y="0"/>
            <a:ext cx="12192000" cy="1200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dirty="0"/>
              <a:t>Patient Fall Rate Benchmark Comparison</a:t>
            </a:r>
          </a:p>
        </p:txBody>
      </p:sp>
      <p:sp>
        <p:nvSpPr>
          <p:cNvPr id="3" name="TextBox 2">
            <a:extLst>
              <a:ext uri="{FF2B5EF4-FFF2-40B4-BE49-F238E27FC236}">
                <a16:creationId xmlns:a16="http://schemas.microsoft.com/office/drawing/2014/main" id="{C3F2131B-DC66-D1F8-6B14-F02F3F619849}"/>
              </a:ext>
            </a:extLst>
          </p:cNvPr>
          <p:cNvSpPr txBox="1"/>
          <p:nvPr/>
        </p:nvSpPr>
        <p:spPr>
          <a:xfrm>
            <a:off x="590550" y="1600200"/>
            <a:ext cx="11601450" cy="3508653"/>
          </a:xfrm>
          <a:prstGeom prst="rect">
            <a:avLst/>
          </a:prstGeom>
          <a:noFill/>
        </p:spPr>
        <p:txBody>
          <a:bodyPr wrap="square" rtlCol="0">
            <a:spAutoFit/>
          </a:bodyPr>
          <a:lstStyle/>
          <a:p>
            <a:r>
              <a:rPr lang="en-GB" sz="2400" b="1" dirty="0"/>
              <a:t>Comparison:</a:t>
            </a:r>
          </a:p>
          <a:p>
            <a:endParaRPr lang="en-GB" sz="2400" b="1" dirty="0"/>
          </a:p>
          <a:p>
            <a:r>
              <a:rPr lang="en-GB" dirty="0"/>
              <a:t>Lowell General Hospital: 2.61 falls per 1,000 patient days</a:t>
            </a:r>
            <a:br>
              <a:rPr lang="en-GB" dirty="0"/>
            </a:br>
            <a:r>
              <a:rPr lang="en-GB" dirty="0"/>
              <a:t>U.S. Benchmark Range: 2.3 – 13 falls per 1,000 patient days</a:t>
            </a:r>
          </a:p>
          <a:p>
            <a:endParaRPr lang="en-IN" dirty="0"/>
          </a:p>
          <a:p>
            <a:r>
              <a:rPr lang="en-GB" sz="2400" b="1" dirty="0"/>
              <a:t>Insights:</a:t>
            </a:r>
          </a:p>
          <a:p>
            <a:pPr marL="342900" indent="-342900">
              <a:buFont typeface="Wingdings" panose="05000000000000000000" pitchFamily="2" charset="2"/>
              <a:buChar char="Ø"/>
            </a:pPr>
            <a:endParaRPr lang="en-GB" sz="2400" b="1" dirty="0"/>
          </a:p>
          <a:p>
            <a:pPr marL="285750" indent="-285750">
              <a:buFont typeface="Wingdings" panose="05000000000000000000" pitchFamily="2" charset="2"/>
              <a:buChar char="Ø"/>
            </a:pPr>
            <a:r>
              <a:rPr lang="en-GB" dirty="0"/>
              <a:t>The hospital's fall rate is toward the lower end of the national benchmark range.</a:t>
            </a:r>
          </a:p>
          <a:p>
            <a:pPr marL="285750" indent="-285750">
              <a:buFont typeface="Wingdings" panose="05000000000000000000" pitchFamily="2" charset="2"/>
              <a:buChar char="Ø"/>
            </a:pPr>
            <a:r>
              <a:rPr lang="en-GB" dirty="0"/>
              <a:t>This suggests effective patient safety practices and fall prevention protocols.</a:t>
            </a:r>
          </a:p>
          <a:p>
            <a:pPr marL="285750" indent="-285750">
              <a:buFont typeface="Wingdings" panose="05000000000000000000" pitchFamily="2" charset="2"/>
              <a:buChar char="Ø"/>
            </a:pPr>
            <a:r>
              <a:rPr lang="en-GB" dirty="0"/>
              <a:t>However, continuous monitoring is important, especially during periods of high bed occupancy.</a:t>
            </a:r>
          </a:p>
          <a:p>
            <a:endParaRPr lang="en-IN" dirty="0"/>
          </a:p>
        </p:txBody>
      </p:sp>
    </p:spTree>
    <p:extLst>
      <p:ext uri="{BB962C8B-B14F-4D97-AF65-F5344CB8AC3E}">
        <p14:creationId xmlns:p14="http://schemas.microsoft.com/office/powerpoint/2010/main" val="4227281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AD22EF-751C-9BDE-2F25-EB2B5AD7D252}"/>
              </a:ext>
            </a:extLst>
          </p:cNvPr>
          <p:cNvSpPr/>
          <p:nvPr/>
        </p:nvSpPr>
        <p:spPr>
          <a:xfrm>
            <a:off x="0" y="0"/>
            <a:ext cx="12192000" cy="1200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dirty="0"/>
              <a:t>Staff Responsiveness Benchmark Comparison</a:t>
            </a:r>
          </a:p>
        </p:txBody>
      </p:sp>
      <p:sp>
        <p:nvSpPr>
          <p:cNvPr id="3" name="TextBox 2">
            <a:extLst>
              <a:ext uri="{FF2B5EF4-FFF2-40B4-BE49-F238E27FC236}">
                <a16:creationId xmlns:a16="http://schemas.microsoft.com/office/drawing/2014/main" id="{1D93C184-1AB3-81AE-22D9-1AEE1E8C31C9}"/>
              </a:ext>
            </a:extLst>
          </p:cNvPr>
          <p:cNvSpPr txBox="1"/>
          <p:nvPr/>
        </p:nvSpPr>
        <p:spPr>
          <a:xfrm>
            <a:off x="428625" y="1543050"/>
            <a:ext cx="11601450" cy="3508653"/>
          </a:xfrm>
          <a:prstGeom prst="rect">
            <a:avLst/>
          </a:prstGeom>
          <a:noFill/>
        </p:spPr>
        <p:txBody>
          <a:bodyPr wrap="square" rtlCol="0">
            <a:spAutoFit/>
          </a:bodyPr>
          <a:lstStyle/>
          <a:p>
            <a:r>
              <a:rPr lang="en-GB" sz="2400" b="1" dirty="0"/>
              <a:t>Comparison:</a:t>
            </a:r>
          </a:p>
          <a:p>
            <a:endParaRPr lang="en-GB" sz="2400" b="1" dirty="0"/>
          </a:p>
          <a:p>
            <a:r>
              <a:rPr lang="en-GB" dirty="0"/>
              <a:t>Lowell General Hospital: 63.1%</a:t>
            </a:r>
            <a:br>
              <a:rPr lang="en-GB" dirty="0"/>
            </a:br>
            <a:r>
              <a:rPr lang="en-GB" dirty="0"/>
              <a:t>Industry Benchmark: 85% – 90%</a:t>
            </a:r>
          </a:p>
          <a:p>
            <a:endParaRPr lang="en-IN" dirty="0"/>
          </a:p>
          <a:p>
            <a:r>
              <a:rPr lang="en-GB" sz="2400" b="1" dirty="0"/>
              <a:t>Insights:</a:t>
            </a:r>
          </a:p>
          <a:p>
            <a:endParaRPr lang="en-GB" sz="2400" b="1" dirty="0"/>
          </a:p>
          <a:p>
            <a:pPr marL="285750" indent="-285750">
              <a:buFont typeface="Wingdings" panose="05000000000000000000" pitchFamily="2" charset="2"/>
              <a:buChar char="Ø"/>
            </a:pPr>
            <a:r>
              <a:rPr lang="en-GB" dirty="0"/>
              <a:t>Staff responsiveness at the hospital is below the industry benchmark.</a:t>
            </a:r>
          </a:p>
          <a:p>
            <a:pPr marL="285750" indent="-285750">
              <a:buFont typeface="Wingdings" panose="05000000000000000000" pitchFamily="2" charset="2"/>
              <a:buChar char="Ø"/>
            </a:pPr>
            <a:r>
              <a:rPr lang="en-GB" dirty="0"/>
              <a:t>Lower responsiveness may indicate delays in addressing patient needs.</a:t>
            </a:r>
          </a:p>
          <a:p>
            <a:pPr marL="285750" indent="-285750">
              <a:buFont typeface="Wingdings" panose="05000000000000000000" pitchFamily="2" charset="2"/>
              <a:buChar char="Ø"/>
            </a:pPr>
            <a:r>
              <a:rPr lang="en-GB" dirty="0"/>
              <a:t>High bed occupancy levels may increase staff workload, affecting response times.</a:t>
            </a:r>
          </a:p>
          <a:p>
            <a:endParaRPr lang="en-IN" dirty="0"/>
          </a:p>
        </p:txBody>
      </p:sp>
    </p:spTree>
    <p:extLst>
      <p:ext uri="{BB962C8B-B14F-4D97-AF65-F5344CB8AC3E}">
        <p14:creationId xmlns:p14="http://schemas.microsoft.com/office/powerpoint/2010/main" val="1035123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AE32EE-02BF-B48F-2CC8-21768E7BC8F0}"/>
              </a:ext>
            </a:extLst>
          </p:cNvPr>
          <p:cNvSpPr txBox="1"/>
          <p:nvPr/>
        </p:nvSpPr>
        <p:spPr>
          <a:xfrm>
            <a:off x="842963" y="300038"/>
            <a:ext cx="10429875" cy="5693866"/>
          </a:xfrm>
          <a:prstGeom prst="rect">
            <a:avLst/>
          </a:prstGeom>
          <a:noFill/>
        </p:spPr>
        <p:txBody>
          <a:bodyPr wrap="square" rtlCol="0">
            <a:spAutoFit/>
          </a:bodyPr>
          <a:lstStyle/>
          <a:p>
            <a:pPr algn="ctr"/>
            <a:r>
              <a:rPr lang="en-GB" sz="2800" b="1" dirty="0"/>
              <a:t>Final Assessment</a:t>
            </a:r>
          </a:p>
          <a:p>
            <a:endParaRPr lang="en-GB" dirty="0"/>
          </a:p>
          <a:p>
            <a:endParaRPr lang="en-GB" sz="2400" b="1" dirty="0"/>
          </a:p>
          <a:p>
            <a:r>
              <a:rPr lang="en-GB" sz="2400" b="1" dirty="0"/>
              <a:t>Key Findings:</a:t>
            </a:r>
          </a:p>
          <a:p>
            <a:endParaRPr lang="en-GB" sz="2400" b="1" dirty="0"/>
          </a:p>
          <a:p>
            <a:pPr marL="285750" indent="-285750">
              <a:buFont typeface="Wingdings" panose="05000000000000000000" pitchFamily="2" charset="2"/>
              <a:buChar char="Ø"/>
            </a:pPr>
            <a:r>
              <a:rPr lang="en-GB" dirty="0"/>
              <a:t>High bed occupancy combined with lower staff responsiveness suggests operational pressure on hospital resources.</a:t>
            </a:r>
          </a:p>
          <a:p>
            <a:pPr marL="285750" indent="-285750">
              <a:buFont typeface="Wingdings" panose="05000000000000000000" pitchFamily="2" charset="2"/>
              <a:buChar char="Ø"/>
            </a:pPr>
            <a:r>
              <a:rPr lang="en-GB" dirty="0"/>
              <a:t>Despite high occupancy levels, patient fall rates remain relatively low, indicating effective fall prevention practices.</a:t>
            </a:r>
          </a:p>
          <a:p>
            <a:pPr marL="285750" indent="-285750">
              <a:buFont typeface="Wingdings" panose="05000000000000000000" pitchFamily="2" charset="2"/>
              <a:buChar char="Ø"/>
            </a:pPr>
            <a:r>
              <a:rPr lang="en-GB" dirty="0"/>
              <a:t>Improving staff responsiveness could enhance patient safety, satisfaction, and overall hospital performance.</a:t>
            </a:r>
          </a:p>
          <a:p>
            <a:endParaRPr lang="en-IN" dirty="0"/>
          </a:p>
          <a:p>
            <a:r>
              <a:rPr lang="en-GB" sz="2400" b="1" dirty="0"/>
              <a:t>Conclusion:</a:t>
            </a:r>
          </a:p>
          <a:p>
            <a:endParaRPr lang="en-GB" sz="2400" b="1" dirty="0"/>
          </a:p>
          <a:p>
            <a:r>
              <a:rPr lang="en-GB" dirty="0"/>
              <a:t>The analysis suggests that while Lowell General Hospital demonstrates strong capacity utilization and effective fall prevention, improving staff responsiveness could further strengthen patient care quality and operational efficiency.</a:t>
            </a:r>
          </a:p>
          <a:p>
            <a:endParaRPr lang="en-IN" dirty="0"/>
          </a:p>
        </p:txBody>
      </p:sp>
    </p:spTree>
    <p:extLst>
      <p:ext uri="{BB962C8B-B14F-4D97-AF65-F5344CB8AC3E}">
        <p14:creationId xmlns:p14="http://schemas.microsoft.com/office/powerpoint/2010/main" val="19791815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TotalTime>
  <Words>1387</Words>
  <Application>Microsoft Office PowerPoint</Application>
  <PresentationFormat>Widescreen</PresentationFormat>
  <Paragraphs>156</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Wingdings</vt:lpstr>
      <vt:lpstr>Office Theme</vt:lpstr>
      <vt:lpstr>PowerPoint Presentation</vt:lpstr>
      <vt:lpstr>Problem Statement and objective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Gurubasappa hoonalli</dc:creator>
  <cp:lastModifiedBy>Gurubasappa hoonalli</cp:lastModifiedBy>
  <cp:revision>6</cp:revision>
  <dcterms:created xsi:type="dcterms:W3CDTF">2026-03-11T07:07:00Z</dcterms:created>
  <dcterms:modified xsi:type="dcterms:W3CDTF">2026-03-11T10:15:55Z</dcterms:modified>
</cp:coreProperties>
</file>